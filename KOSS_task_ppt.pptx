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6.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7.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8.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 id="2147483690" r:id="rId3"/>
    <p:sldMasterId id="2147483702" r:id="rId4"/>
    <p:sldMasterId id="2147483732" r:id="rId5"/>
    <p:sldMasterId id="2147483744" r:id="rId6"/>
    <p:sldMasterId id="2147483762" r:id="rId7"/>
    <p:sldMasterId id="2147483780" r:id="rId8"/>
    <p:sldMasterId id="2147483792" r:id="rId9"/>
  </p:sldMasterIdLst>
  <p:notesMasterIdLst>
    <p:notesMasterId r:id="rId41"/>
  </p:notesMasterIdLst>
  <p:sldIdLst>
    <p:sldId id="256" r:id="rId10"/>
    <p:sldId id="285" r:id="rId11"/>
    <p:sldId id="286" r:id="rId12"/>
    <p:sldId id="287" r:id="rId13"/>
    <p:sldId id="291" r:id="rId14"/>
    <p:sldId id="288" r:id="rId15"/>
    <p:sldId id="290" r:id="rId16"/>
    <p:sldId id="257" r:id="rId17"/>
    <p:sldId id="292" r:id="rId18"/>
    <p:sldId id="293" r:id="rId19"/>
    <p:sldId id="258" r:id="rId20"/>
    <p:sldId id="295" r:id="rId21"/>
    <p:sldId id="296" r:id="rId22"/>
    <p:sldId id="297" r:id="rId23"/>
    <p:sldId id="266" r:id="rId24"/>
    <p:sldId id="309" r:id="rId25"/>
    <p:sldId id="260" r:id="rId26"/>
    <p:sldId id="298" r:id="rId27"/>
    <p:sldId id="299" r:id="rId28"/>
    <p:sldId id="300" r:id="rId29"/>
    <p:sldId id="301" r:id="rId30"/>
    <p:sldId id="302" r:id="rId31"/>
    <p:sldId id="303" r:id="rId32"/>
    <p:sldId id="304" r:id="rId33"/>
    <p:sldId id="305" r:id="rId34"/>
    <p:sldId id="306" r:id="rId35"/>
    <p:sldId id="307" r:id="rId36"/>
    <p:sldId id="276" r:id="rId37"/>
    <p:sldId id="275" r:id="rId38"/>
    <p:sldId id="284" r:id="rId39"/>
    <p:sldId id="30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20" Type="http://schemas.openxmlformats.org/officeDocument/2006/relationships/slide" Target="slides/slide11.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D4EADB-7C06-4552-91A0-FC2475D9D721}"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71EE6DDC-BF44-413D-A4DE-594E709A1E6B}">
      <dgm:prSet/>
      <dgm:spPr/>
      <dgm:t>
        <a:bodyPr/>
        <a:lstStyle/>
        <a:p>
          <a:pPr>
            <a:lnSpc>
              <a:spcPct val="100000"/>
            </a:lnSpc>
          </a:pPr>
          <a:r>
            <a:rPr lang="en-US" b="1" dirty="0"/>
            <a:t>The Container Solution (OS-Level Virtualization)</a:t>
          </a:r>
          <a:endParaRPr lang="en-US" dirty="0"/>
        </a:p>
      </dgm:t>
    </dgm:pt>
    <dgm:pt modelId="{D400E8F4-B1F1-41D5-9ADE-640F029403D4}" type="parTrans" cxnId="{972114C1-CB97-46D1-AFA4-3A0B4B5C3B53}">
      <dgm:prSet/>
      <dgm:spPr/>
      <dgm:t>
        <a:bodyPr/>
        <a:lstStyle/>
        <a:p>
          <a:endParaRPr lang="en-US"/>
        </a:p>
      </dgm:t>
    </dgm:pt>
    <dgm:pt modelId="{75C3B6B1-A19F-4A06-BB7A-58F1AE94284B}" type="sibTrans" cxnId="{972114C1-CB97-46D1-AFA4-3A0B4B5C3B53}">
      <dgm:prSet/>
      <dgm:spPr/>
      <dgm:t>
        <a:bodyPr/>
        <a:lstStyle/>
        <a:p>
          <a:endParaRPr lang="en-US"/>
        </a:p>
      </dgm:t>
    </dgm:pt>
    <dgm:pt modelId="{E6050061-CEB3-4A42-84A9-79A25D714201}">
      <dgm:prSet/>
      <dgm:spPr/>
      <dgm:t>
        <a:bodyPr/>
        <a:lstStyle/>
        <a:p>
          <a:pPr>
            <a:lnSpc>
              <a:spcPct val="100000"/>
            </a:lnSpc>
          </a:pPr>
          <a:r>
            <a:rPr lang="en-US"/>
            <a:t>Containers solve the resource duplication problem by abandoning hardware virtualization. Instead, they virtualize the Operating System itself.</a:t>
          </a:r>
        </a:p>
      </dgm:t>
    </dgm:pt>
    <dgm:pt modelId="{742BED7B-91BC-450B-861D-2A425CEED604}" type="parTrans" cxnId="{E640E397-11CF-4BD6-BC8F-907F28EC06A2}">
      <dgm:prSet/>
      <dgm:spPr/>
      <dgm:t>
        <a:bodyPr/>
        <a:lstStyle/>
        <a:p>
          <a:endParaRPr lang="en-US"/>
        </a:p>
      </dgm:t>
    </dgm:pt>
    <dgm:pt modelId="{37CFFD5F-F262-450D-AF35-32B8916D5368}" type="sibTrans" cxnId="{E640E397-11CF-4BD6-BC8F-907F28EC06A2}">
      <dgm:prSet/>
      <dgm:spPr/>
      <dgm:t>
        <a:bodyPr/>
        <a:lstStyle/>
        <a:p>
          <a:endParaRPr lang="en-US"/>
        </a:p>
      </dgm:t>
    </dgm:pt>
    <dgm:pt modelId="{86BFE236-2FA0-47C1-9B4C-B9C17C9D26F6}">
      <dgm:prSet/>
      <dgm:spPr/>
      <dgm:t>
        <a:bodyPr/>
        <a:lstStyle/>
        <a:p>
          <a:pPr>
            <a:lnSpc>
              <a:spcPct val="100000"/>
            </a:lnSpc>
          </a:pPr>
          <a:r>
            <a:rPr lang="en-US"/>
            <a:t>A container packages only the application code, its runtime, system tools, and required libraries. It does not contain an OS kernel. Instead, all containers running on a machine share the single underlying Host OS kernel directly.</a:t>
          </a:r>
        </a:p>
      </dgm:t>
    </dgm:pt>
    <dgm:pt modelId="{808313B9-C904-42CC-A79D-99E6A305B1E9}" type="parTrans" cxnId="{F68E052D-65E4-44E2-8624-3E24A7173A0D}">
      <dgm:prSet/>
      <dgm:spPr/>
      <dgm:t>
        <a:bodyPr/>
        <a:lstStyle/>
        <a:p>
          <a:endParaRPr lang="en-US"/>
        </a:p>
      </dgm:t>
    </dgm:pt>
    <dgm:pt modelId="{25ABA30D-50E7-44DE-BE24-F6B1CD24D1FC}" type="sibTrans" cxnId="{F68E052D-65E4-44E2-8624-3E24A7173A0D}">
      <dgm:prSet/>
      <dgm:spPr/>
      <dgm:t>
        <a:bodyPr/>
        <a:lstStyle/>
        <a:p>
          <a:endParaRPr lang="en-US"/>
        </a:p>
      </dgm:t>
    </dgm:pt>
    <dgm:pt modelId="{2803679D-4663-4B61-BA02-3F3CE61C57A5}" type="pres">
      <dgm:prSet presAssocID="{30D4EADB-7C06-4552-91A0-FC2475D9D721}" presName="root" presStyleCnt="0">
        <dgm:presLayoutVars>
          <dgm:dir/>
          <dgm:resizeHandles val="exact"/>
        </dgm:presLayoutVars>
      </dgm:prSet>
      <dgm:spPr/>
    </dgm:pt>
    <dgm:pt modelId="{51A753D9-097B-42DA-9C2C-B5F690C69E64}" type="pres">
      <dgm:prSet presAssocID="{71EE6DDC-BF44-413D-A4DE-594E709A1E6B}" presName="compNode" presStyleCnt="0"/>
      <dgm:spPr/>
    </dgm:pt>
    <dgm:pt modelId="{6EADCD2D-DC72-4FAC-A0DF-DA8C5974417F}" type="pres">
      <dgm:prSet presAssocID="{71EE6DDC-BF44-413D-A4DE-594E709A1E6B}" presName="bgRect" presStyleLbl="bgShp" presStyleIdx="0" presStyleCnt="3"/>
      <dgm:spPr/>
    </dgm:pt>
    <dgm:pt modelId="{B204D588-2F80-4095-BE3A-A088D518FA51}" type="pres">
      <dgm:prSet presAssocID="{71EE6DDC-BF44-413D-A4DE-594E709A1E6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ement truck"/>
        </a:ext>
      </dgm:extLst>
    </dgm:pt>
    <dgm:pt modelId="{58299BD1-B024-49B8-A22D-CDB4F2737156}" type="pres">
      <dgm:prSet presAssocID="{71EE6DDC-BF44-413D-A4DE-594E709A1E6B}" presName="spaceRect" presStyleCnt="0"/>
      <dgm:spPr/>
    </dgm:pt>
    <dgm:pt modelId="{62D48126-A083-4DF3-8A9D-BB64A06EF12C}" type="pres">
      <dgm:prSet presAssocID="{71EE6DDC-BF44-413D-A4DE-594E709A1E6B}" presName="parTx" presStyleLbl="revTx" presStyleIdx="0" presStyleCnt="3">
        <dgm:presLayoutVars>
          <dgm:chMax val="0"/>
          <dgm:chPref val="0"/>
        </dgm:presLayoutVars>
      </dgm:prSet>
      <dgm:spPr/>
    </dgm:pt>
    <dgm:pt modelId="{7CF6299E-D5F2-4420-A9C1-30EFB9FD3335}" type="pres">
      <dgm:prSet presAssocID="{75C3B6B1-A19F-4A06-BB7A-58F1AE94284B}" presName="sibTrans" presStyleCnt="0"/>
      <dgm:spPr/>
    </dgm:pt>
    <dgm:pt modelId="{608B39E1-74BD-464F-8D7D-B913633366A8}" type="pres">
      <dgm:prSet presAssocID="{E6050061-CEB3-4A42-84A9-79A25D714201}" presName="compNode" presStyleCnt="0"/>
      <dgm:spPr/>
    </dgm:pt>
    <dgm:pt modelId="{458228B9-C860-4645-8060-F27D8119B21F}" type="pres">
      <dgm:prSet presAssocID="{E6050061-CEB3-4A42-84A9-79A25D714201}" presName="bgRect" presStyleLbl="bgShp" presStyleIdx="1" presStyleCnt="3"/>
      <dgm:spPr/>
    </dgm:pt>
    <dgm:pt modelId="{40EB4291-4921-48AC-8B30-5E5AF3DA0248}" type="pres">
      <dgm:prSet presAssocID="{E6050061-CEB3-4A42-84A9-79A25D71420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7F39A200-7A3F-43AB-98C9-D06EE22DAC04}" type="pres">
      <dgm:prSet presAssocID="{E6050061-CEB3-4A42-84A9-79A25D714201}" presName="spaceRect" presStyleCnt="0"/>
      <dgm:spPr/>
    </dgm:pt>
    <dgm:pt modelId="{96340565-A653-4AC2-A093-DCB72FEAA9EE}" type="pres">
      <dgm:prSet presAssocID="{E6050061-CEB3-4A42-84A9-79A25D714201}" presName="parTx" presStyleLbl="revTx" presStyleIdx="1" presStyleCnt="3">
        <dgm:presLayoutVars>
          <dgm:chMax val="0"/>
          <dgm:chPref val="0"/>
        </dgm:presLayoutVars>
      </dgm:prSet>
      <dgm:spPr/>
    </dgm:pt>
    <dgm:pt modelId="{F15DB1E2-6DA5-47EB-8382-3A81A5430F5B}" type="pres">
      <dgm:prSet presAssocID="{37CFFD5F-F262-450D-AF35-32B8916D5368}" presName="sibTrans" presStyleCnt="0"/>
      <dgm:spPr/>
    </dgm:pt>
    <dgm:pt modelId="{E0B2D6BC-55CD-46A7-B092-1CEFC93786E1}" type="pres">
      <dgm:prSet presAssocID="{86BFE236-2FA0-47C1-9B4C-B9C17C9D26F6}" presName="compNode" presStyleCnt="0"/>
      <dgm:spPr/>
    </dgm:pt>
    <dgm:pt modelId="{38BAC0D8-D1CB-4883-BB22-9EDE935214D6}" type="pres">
      <dgm:prSet presAssocID="{86BFE236-2FA0-47C1-9B4C-B9C17C9D26F6}" presName="bgRect" presStyleLbl="bgShp" presStyleIdx="2" presStyleCnt="3"/>
      <dgm:spPr/>
    </dgm:pt>
    <dgm:pt modelId="{FE112065-A8CC-4338-B22E-5E9625CF189B}" type="pres">
      <dgm:prSet presAssocID="{86BFE236-2FA0-47C1-9B4C-B9C17C9D26F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ADA342C2-2703-4970-AC39-19CBAC27A8DE}" type="pres">
      <dgm:prSet presAssocID="{86BFE236-2FA0-47C1-9B4C-B9C17C9D26F6}" presName="spaceRect" presStyleCnt="0"/>
      <dgm:spPr/>
    </dgm:pt>
    <dgm:pt modelId="{5618FB37-D33F-4620-883A-73276850BCD1}" type="pres">
      <dgm:prSet presAssocID="{86BFE236-2FA0-47C1-9B4C-B9C17C9D26F6}" presName="parTx" presStyleLbl="revTx" presStyleIdx="2" presStyleCnt="3">
        <dgm:presLayoutVars>
          <dgm:chMax val="0"/>
          <dgm:chPref val="0"/>
        </dgm:presLayoutVars>
      </dgm:prSet>
      <dgm:spPr/>
    </dgm:pt>
  </dgm:ptLst>
  <dgm:cxnLst>
    <dgm:cxn modelId="{F68E052D-65E4-44E2-8624-3E24A7173A0D}" srcId="{30D4EADB-7C06-4552-91A0-FC2475D9D721}" destId="{86BFE236-2FA0-47C1-9B4C-B9C17C9D26F6}" srcOrd="2" destOrd="0" parTransId="{808313B9-C904-42CC-A79D-99E6A305B1E9}" sibTransId="{25ABA30D-50E7-44DE-BE24-F6B1CD24D1FC}"/>
    <dgm:cxn modelId="{2BC20E32-69BD-4A69-92D3-1D81793C64F1}" type="presOf" srcId="{71EE6DDC-BF44-413D-A4DE-594E709A1E6B}" destId="{62D48126-A083-4DF3-8A9D-BB64A06EF12C}" srcOrd="0" destOrd="0" presId="urn:microsoft.com/office/officeart/2018/2/layout/IconVerticalSolidList"/>
    <dgm:cxn modelId="{BB952E90-40BE-4AEC-A214-5EB059286ED4}" type="presOf" srcId="{86BFE236-2FA0-47C1-9B4C-B9C17C9D26F6}" destId="{5618FB37-D33F-4620-883A-73276850BCD1}" srcOrd="0" destOrd="0" presId="urn:microsoft.com/office/officeart/2018/2/layout/IconVerticalSolidList"/>
    <dgm:cxn modelId="{E640E397-11CF-4BD6-BC8F-907F28EC06A2}" srcId="{30D4EADB-7C06-4552-91A0-FC2475D9D721}" destId="{E6050061-CEB3-4A42-84A9-79A25D714201}" srcOrd="1" destOrd="0" parTransId="{742BED7B-91BC-450B-861D-2A425CEED604}" sibTransId="{37CFFD5F-F262-450D-AF35-32B8916D5368}"/>
    <dgm:cxn modelId="{972114C1-CB97-46D1-AFA4-3A0B4B5C3B53}" srcId="{30D4EADB-7C06-4552-91A0-FC2475D9D721}" destId="{71EE6DDC-BF44-413D-A4DE-594E709A1E6B}" srcOrd="0" destOrd="0" parTransId="{D400E8F4-B1F1-41D5-9ADE-640F029403D4}" sibTransId="{75C3B6B1-A19F-4A06-BB7A-58F1AE94284B}"/>
    <dgm:cxn modelId="{F8F470D0-39B9-47DF-B0A3-CCC9F7D5B829}" type="presOf" srcId="{E6050061-CEB3-4A42-84A9-79A25D714201}" destId="{96340565-A653-4AC2-A093-DCB72FEAA9EE}" srcOrd="0" destOrd="0" presId="urn:microsoft.com/office/officeart/2018/2/layout/IconVerticalSolidList"/>
    <dgm:cxn modelId="{B2BAFDDC-286E-45B1-93B8-24E16C7A55A7}" type="presOf" srcId="{30D4EADB-7C06-4552-91A0-FC2475D9D721}" destId="{2803679D-4663-4B61-BA02-3F3CE61C57A5}" srcOrd="0" destOrd="0" presId="urn:microsoft.com/office/officeart/2018/2/layout/IconVerticalSolidList"/>
    <dgm:cxn modelId="{1D948D3F-8130-4D97-89AB-BCAD6A2A2934}" type="presParOf" srcId="{2803679D-4663-4B61-BA02-3F3CE61C57A5}" destId="{51A753D9-097B-42DA-9C2C-B5F690C69E64}" srcOrd="0" destOrd="0" presId="urn:microsoft.com/office/officeart/2018/2/layout/IconVerticalSolidList"/>
    <dgm:cxn modelId="{3C2219CF-1AF2-4C38-81BC-2D744A79E40B}" type="presParOf" srcId="{51A753D9-097B-42DA-9C2C-B5F690C69E64}" destId="{6EADCD2D-DC72-4FAC-A0DF-DA8C5974417F}" srcOrd="0" destOrd="0" presId="urn:microsoft.com/office/officeart/2018/2/layout/IconVerticalSolidList"/>
    <dgm:cxn modelId="{7248F666-E512-45B6-B356-24FD3D11E0A0}" type="presParOf" srcId="{51A753D9-097B-42DA-9C2C-B5F690C69E64}" destId="{B204D588-2F80-4095-BE3A-A088D518FA51}" srcOrd="1" destOrd="0" presId="urn:microsoft.com/office/officeart/2018/2/layout/IconVerticalSolidList"/>
    <dgm:cxn modelId="{33681BA0-0D5F-451D-B509-BBC2321B8659}" type="presParOf" srcId="{51A753D9-097B-42DA-9C2C-B5F690C69E64}" destId="{58299BD1-B024-49B8-A22D-CDB4F2737156}" srcOrd="2" destOrd="0" presId="urn:microsoft.com/office/officeart/2018/2/layout/IconVerticalSolidList"/>
    <dgm:cxn modelId="{8DB803C0-EA39-4A95-AA80-8CDAD05817BA}" type="presParOf" srcId="{51A753D9-097B-42DA-9C2C-B5F690C69E64}" destId="{62D48126-A083-4DF3-8A9D-BB64A06EF12C}" srcOrd="3" destOrd="0" presId="urn:microsoft.com/office/officeart/2018/2/layout/IconVerticalSolidList"/>
    <dgm:cxn modelId="{4CBB01E0-DFD2-48D9-92ED-F5DBE1D29A15}" type="presParOf" srcId="{2803679D-4663-4B61-BA02-3F3CE61C57A5}" destId="{7CF6299E-D5F2-4420-A9C1-30EFB9FD3335}" srcOrd="1" destOrd="0" presId="urn:microsoft.com/office/officeart/2018/2/layout/IconVerticalSolidList"/>
    <dgm:cxn modelId="{58DA802D-9817-424F-8EAD-4AA5F71B52AF}" type="presParOf" srcId="{2803679D-4663-4B61-BA02-3F3CE61C57A5}" destId="{608B39E1-74BD-464F-8D7D-B913633366A8}" srcOrd="2" destOrd="0" presId="urn:microsoft.com/office/officeart/2018/2/layout/IconVerticalSolidList"/>
    <dgm:cxn modelId="{553A20E3-B1C7-40A9-85EE-8881DE15F253}" type="presParOf" srcId="{608B39E1-74BD-464F-8D7D-B913633366A8}" destId="{458228B9-C860-4645-8060-F27D8119B21F}" srcOrd="0" destOrd="0" presId="urn:microsoft.com/office/officeart/2018/2/layout/IconVerticalSolidList"/>
    <dgm:cxn modelId="{FE9A0FDB-EF2B-4541-B949-81BD4717EDC1}" type="presParOf" srcId="{608B39E1-74BD-464F-8D7D-B913633366A8}" destId="{40EB4291-4921-48AC-8B30-5E5AF3DA0248}" srcOrd="1" destOrd="0" presId="urn:microsoft.com/office/officeart/2018/2/layout/IconVerticalSolidList"/>
    <dgm:cxn modelId="{4AC0DE64-79DE-4357-AB1D-07964228FAFD}" type="presParOf" srcId="{608B39E1-74BD-464F-8D7D-B913633366A8}" destId="{7F39A200-7A3F-43AB-98C9-D06EE22DAC04}" srcOrd="2" destOrd="0" presId="urn:microsoft.com/office/officeart/2018/2/layout/IconVerticalSolidList"/>
    <dgm:cxn modelId="{E9598E9A-BD16-46C0-883F-3FECE685CA2E}" type="presParOf" srcId="{608B39E1-74BD-464F-8D7D-B913633366A8}" destId="{96340565-A653-4AC2-A093-DCB72FEAA9EE}" srcOrd="3" destOrd="0" presId="urn:microsoft.com/office/officeart/2018/2/layout/IconVerticalSolidList"/>
    <dgm:cxn modelId="{FD31A20F-D0CF-44BA-9C8A-2A455D344C37}" type="presParOf" srcId="{2803679D-4663-4B61-BA02-3F3CE61C57A5}" destId="{F15DB1E2-6DA5-47EB-8382-3A81A5430F5B}" srcOrd="3" destOrd="0" presId="urn:microsoft.com/office/officeart/2018/2/layout/IconVerticalSolidList"/>
    <dgm:cxn modelId="{9F5764DE-20C6-4A35-8900-A89BF8164F42}" type="presParOf" srcId="{2803679D-4663-4B61-BA02-3F3CE61C57A5}" destId="{E0B2D6BC-55CD-46A7-B092-1CEFC93786E1}" srcOrd="4" destOrd="0" presId="urn:microsoft.com/office/officeart/2018/2/layout/IconVerticalSolidList"/>
    <dgm:cxn modelId="{27E54426-B35D-41E6-A555-197AF5F1F2BB}" type="presParOf" srcId="{E0B2D6BC-55CD-46A7-B092-1CEFC93786E1}" destId="{38BAC0D8-D1CB-4883-BB22-9EDE935214D6}" srcOrd="0" destOrd="0" presId="urn:microsoft.com/office/officeart/2018/2/layout/IconVerticalSolidList"/>
    <dgm:cxn modelId="{3726248C-A100-45D5-8B39-BC6229E3CFFF}" type="presParOf" srcId="{E0B2D6BC-55CD-46A7-B092-1CEFC93786E1}" destId="{FE112065-A8CC-4338-B22E-5E9625CF189B}" srcOrd="1" destOrd="0" presId="urn:microsoft.com/office/officeart/2018/2/layout/IconVerticalSolidList"/>
    <dgm:cxn modelId="{E871EF30-1714-4E2D-8D68-2ECC79B66199}" type="presParOf" srcId="{E0B2D6BC-55CD-46A7-B092-1CEFC93786E1}" destId="{ADA342C2-2703-4970-AC39-19CBAC27A8DE}" srcOrd="2" destOrd="0" presId="urn:microsoft.com/office/officeart/2018/2/layout/IconVerticalSolidList"/>
    <dgm:cxn modelId="{D0822DCF-36B4-42B9-B392-FDB3F5150755}" type="presParOf" srcId="{E0B2D6BC-55CD-46A7-B092-1CEFC93786E1}" destId="{5618FB37-D33F-4620-883A-73276850BC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033942-4B63-42A1-A731-1393ABD09F0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2A7850A-CCC9-4213-B511-E12BA439DE41}">
      <dgm:prSet/>
      <dgm:spPr/>
      <dgm:t>
        <a:bodyPr/>
        <a:lstStyle/>
        <a:p>
          <a:pPr>
            <a:lnSpc>
              <a:spcPct val="100000"/>
            </a:lnSpc>
          </a:pPr>
          <a:r>
            <a:rPr lang="en-US" b="1" i="0" baseline="0" dirty="0"/>
            <a:t>Process ID (</a:t>
          </a:r>
          <a:r>
            <a:rPr lang="en-US" b="1" i="0" baseline="0" dirty="0" err="1"/>
            <a:t>pid</a:t>
          </a:r>
          <a:r>
            <a:rPr lang="en-US" b="1" i="0" baseline="0" dirty="0"/>
            <a:t>):</a:t>
          </a:r>
          <a:r>
            <a:rPr lang="en-US" b="0" i="0" baseline="0" dirty="0"/>
            <a:t> Provides an independent branching of process IDs. Inside the container, the main application runs as PID 1, completely unaware of the thousands of processes running on the host.</a:t>
          </a:r>
          <a:endParaRPr lang="en-US" dirty="0"/>
        </a:p>
      </dgm:t>
    </dgm:pt>
    <dgm:pt modelId="{FA8BF5F1-4E93-4708-A4C8-00AF00976748}" type="parTrans" cxnId="{2114D4E9-AA4B-4756-ACA5-AC3353CFF2DC}">
      <dgm:prSet/>
      <dgm:spPr/>
      <dgm:t>
        <a:bodyPr/>
        <a:lstStyle/>
        <a:p>
          <a:endParaRPr lang="en-US"/>
        </a:p>
      </dgm:t>
    </dgm:pt>
    <dgm:pt modelId="{3DA398C5-21B3-402A-AEFA-18403C098F88}" type="sibTrans" cxnId="{2114D4E9-AA4B-4756-ACA5-AC3353CFF2DC}">
      <dgm:prSet/>
      <dgm:spPr/>
      <dgm:t>
        <a:bodyPr/>
        <a:lstStyle/>
        <a:p>
          <a:endParaRPr lang="en-US"/>
        </a:p>
      </dgm:t>
    </dgm:pt>
    <dgm:pt modelId="{72B6AD2F-C51F-44E3-B3BA-5F75837D938B}">
      <dgm:prSet/>
      <dgm:spPr/>
      <dgm:t>
        <a:bodyPr/>
        <a:lstStyle/>
        <a:p>
          <a:pPr>
            <a:lnSpc>
              <a:spcPct val="100000"/>
            </a:lnSpc>
          </a:pPr>
          <a:r>
            <a:rPr lang="en-US" b="1" i="0" baseline="0"/>
            <a:t>Network (net):</a:t>
          </a:r>
          <a:r>
            <a:rPr lang="en-US" b="0" i="0" baseline="0"/>
            <a:t> Virtualizes the network stack, providing the container with its own private IP addresses, routing tables, and port ranges.</a:t>
          </a:r>
          <a:endParaRPr lang="en-US"/>
        </a:p>
      </dgm:t>
    </dgm:pt>
    <dgm:pt modelId="{DD8C127D-2472-433E-9B0E-6BFC461B22AC}" type="parTrans" cxnId="{2C0D4D8B-AAE7-4263-816C-A3FA3A65AEFA}">
      <dgm:prSet/>
      <dgm:spPr/>
      <dgm:t>
        <a:bodyPr/>
        <a:lstStyle/>
        <a:p>
          <a:endParaRPr lang="en-US"/>
        </a:p>
      </dgm:t>
    </dgm:pt>
    <dgm:pt modelId="{EC01F27F-03DD-44E6-AA5C-6303279A4E95}" type="sibTrans" cxnId="{2C0D4D8B-AAE7-4263-816C-A3FA3A65AEFA}">
      <dgm:prSet/>
      <dgm:spPr/>
      <dgm:t>
        <a:bodyPr/>
        <a:lstStyle/>
        <a:p>
          <a:endParaRPr lang="en-US"/>
        </a:p>
      </dgm:t>
    </dgm:pt>
    <dgm:pt modelId="{D0F52E45-A089-4FA5-A9B2-F031D7A5C3DD}">
      <dgm:prSet/>
      <dgm:spPr/>
      <dgm:t>
        <a:bodyPr/>
        <a:lstStyle/>
        <a:p>
          <a:pPr>
            <a:lnSpc>
              <a:spcPct val="100000"/>
            </a:lnSpc>
          </a:pPr>
          <a:r>
            <a:rPr lang="en-US" b="1" i="0" baseline="0"/>
            <a:t>Interprocess Communication (ipc):</a:t>
          </a:r>
          <a:r>
            <a:rPr lang="en-US" b="0" i="0" baseline="0"/>
            <a:t> Prevents processes in different containers from accessing each other’s shared memory or message queues.</a:t>
          </a:r>
          <a:endParaRPr lang="en-US"/>
        </a:p>
      </dgm:t>
    </dgm:pt>
    <dgm:pt modelId="{1F812797-C79D-4DBD-9684-62BBC2F98852}" type="parTrans" cxnId="{195407BA-8191-42C2-BC63-2300C1506FB6}">
      <dgm:prSet/>
      <dgm:spPr/>
      <dgm:t>
        <a:bodyPr/>
        <a:lstStyle/>
        <a:p>
          <a:endParaRPr lang="en-US"/>
        </a:p>
      </dgm:t>
    </dgm:pt>
    <dgm:pt modelId="{139802C9-1C69-4F2D-A595-3919E824D4A2}" type="sibTrans" cxnId="{195407BA-8191-42C2-BC63-2300C1506FB6}">
      <dgm:prSet/>
      <dgm:spPr/>
      <dgm:t>
        <a:bodyPr/>
        <a:lstStyle/>
        <a:p>
          <a:endParaRPr lang="en-US"/>
        </a:p>
      </dgm:t>
    </dgm:pt>
    <dgm:pt modelId="{BB991A67-7F5D-41CA-B6D7-201AAB0F85E3}">
      <dgm:prSet/>
      <dgm:spPr/>
      <dgm:t>
        <a:bodyPr/>
        <a:lstStyle/>
        <a:p>
          <a:pPr>
            <a:lnSpc>
              <a:spcPct val="100000"/>
            </a:lnSpc>
          </a:pPr>
          <a:r>
            <a:rPr lang="en-US" b="1" i="0" baseline="0"/>
            <a:t>Hostname (uts):</a:t>
          </a:r>
          <a:r>
            <a:rPr lang="en-US" b="0" i="0" baseline="0"/>
            <a:t> Allows the container to have its own unique hostname and domain name, separate from the host system.</a:t>
          </a:r>
          <a:endParaRPr lang="en-US"/>
        </a:p>
      </dgm:t>
    </dgm:pt>
    <dgm:pt modelId="{7C09A34F-3DAA-4B0B-AE0F-E86B59DFB880}" type="parTrans" cxnId="{D87C18D3-0D61-48DB-99C9-2BFFB09DE254}">
      <dgm:prSet/>
      <dgm:spPr/>
      <dgm:t>
        <a:bodyPr/>
        <a:lstStyle/>
        <a:p>
          <a:endParaRPr lang="en-US"/>
        </a:p>
      </dgm:t>
    </dgm:pt>
    <dgm:pt modelId="{261A2141-151F-4326-AD81-E739B30ED031}" type="sibTrans" cxnId="{D87C18D3-0D61-48DB-99C9-2BFFB09DE254}">
      <dgm:prSet/>
      <dgm:spPr/>
      <dgm:t>
        <a:bodyPr/>
        <a:lstStyle/>
        <a:p>
          <a:endParaRPr lang="en-US"/>
        </a:p>
      </dgm:t>
    </dgm:pt>
    <dgm:pt modelId="{7EC57F9C-FD6A-4E5F-9285-31F478FE3DBC}">
      <dgm:prSet/>
      <dgm:spPr/>
      <dgm:t>
        <a:bodyPr/>
        <a:lstStyle/>
        <a:p>
          <a:pPr>
            <a:lnSpc>
              <a:spcPct val="100000"/>
            </a:lnSpc>
          </a:pPr>
          <a:r>
            <a:rPr lang="en-US" b="1" i="0" baseline="0"/>
            <a:t>User (user):</a:t>
          </a:r>
          <a:r>
            <a:rPr lang="en-US" b="0" i="0" baseline="0"/>
            <a:t> Maps user and group IDs inside the container to different IDs on the host, allowing a process to have "root" privileges inside the container while being a "non-privileged" user on the host.</a:t>
          </a:r>
          <a:endParaRPr lang="en-US"/>
        </a:p>
      </dgm:t>
    </dgm:pt>
    <dgm:pt modelId="{8A59C284-A4FB-4D26-89EA-DC63CBBE91AF}" type="parTrans" cxnId="{3791EA84-5D14-4529-8728-59ABE3081D92}">
      <dgm:prSet/>
      <dgm:spPr/>
      <dgm:t>
        <a:bodyPr/>
        <a:lstStyle/>
        <a:p>
          <a:endParaRPr lang="en-US"/>
        </a:p>
      </dgm:t>
    </dgm:pt>
    <dgm:pt modelId="{03835C08-054B-40AE-8264-9726F8ED5910}" type="sibTrans" cxnId="{3791EA84-5D14-4529-8728-59ABE3081D92}">
      <dgm:prSet/>
      <dgm:spPr/>
      <dgm:t>
        <a:bodyPr/>
        <a:lstStyle/>
        <a:p>
          <a:endParaRPr lang="en-US"/>
        </a:p>
      </dgm:t>
    </dgm:pt>
    <dgm:pt modelId="{FE32EAAC-16F5-4CAF-849E-49206BC85002}">
      <dgm:prSet/>
      <dgm:spPr/>
      <dgm:t>
        <a:bodyPr/>
        <a:lstStyle/>
        <a:p>
          <a:pPr>
            <a:lnSpc>
              <a:spcPct val="100000"/>
            </a:lnSpc>
          </a:pPr>
          <a:r>
            <a:rPr lang="en-US" b="1"/>
            <a:t>Mount (mnt):</a:t>
          </a:r>
          <a:r>
            <a:rPr lang="en-US"/>
            <a:t> This isolates the set of file system mount points seen by a group of processes. It allows a container to have its own root directory (/) and mount/unmount filesystems without affecting the host or other containers.</a:t>
          </a:r>
        </a:p>
      </dgm:t>
    </dgm:pt>
    <dgm:pt modelId="{666C4F9A-9749-45FA-87DD-CE7BB9DDD0CC}" type="parTrans" cxnId="{82370248-63DB-439C-835E-6585B6D24BB3}">
      <dgm:prSet/>
      <dgm:spPr/>
      <dgm:t>
        <a:bodyPr/>
        <a:lstStyle/>
        <a:p>
          <a:endParaRPr lang="en-US"/>
        </a:p>
      </dgm:t>
    </dgm:pt>
    <dgm:pt modelId="{45BEDD61-C2BA-4967-BF21-619055938F70}" type="sibTrans" cxnId="{82370248-63DB-439C-835E-6585B6D24BB3}">
      <dgm:prSet/>
      <dgm:spPr/>
      <dgm:t>
        <a:bodyPr/>
        <a:lstStyle/>
        <a:p>
          <a:endParaRPr lang="en-US"/>
        </a:p>
      </dgm:t>
    </dgm:pt>
    <dgm:pt modelId="{D06CC8AF-31F5-4414-8055-2F5070BD0C1A}" type="pres">
      <dgm:prSet presAssocID="{45033942-4B63-42A1-A731-1393ABD09F0F}" presName="root" presStyleCnt="0">
        <dgm:presLayoutVars>
          <dgm:dir/>
          <dgm:resizeHandles val="exact"/>
        </dgm:presLayoutVars>
      </dgm:prSet>
      <dgm:spPr/>
    </dgm:pt>
    <dgm:pt modelId="{DE138038-57EE-4D30-B1FA-0CC989DFD44D}" type="pres">
      <dgm:prSet presAssocID="{A2A7850A-CCC9-4213-B511-E12BA439DE41}" presName="compNode" presStyleCnt="0"/>
      <dgm:spPr/>
    </dgm:pt>
    <dgm:pt modelId="{2C7F8CAA-FD58-44F6-B8DA-F11640E8A137}" type="pres">
      <dgm:prSet presAssocID="{A2A7850A-CCC9-4213-B511-E12BA439DE4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Flowchart"/>
        </a:ext>
      </dgm:extLst>
    </dgm:pt>
    <dgm:pt modelId="{84F3E683-EBF8-4F47-B9CA-3B40DBDFCACB}" type="pres">
      <dgm:prSet presAssocID="{A2A7850A-CCC9-4213-B511-E12BA439DE41}" presName="spaceRect" presStyleCnt="0"/>
      <dgm:spPr/>
    </dgm:pt>
    <dgm:pt modelId="{A174BED7-9CC4-46FE-9450-D9C16DCB8843}" type="pres">
      <dgm:prSet presAssocID="{A2A7850A-CCC9-4213-B511-E12BA439DE41}" presName="textRect" presStyleLbl="revTx" presStyleIdx="0" presStyleCnt="6">
        <dgm:presLayoutVars>
          <dgm:chMax val="1"/>
          <dgm:chPref val="1"/>
        </dgm:presLayoutVars>
      </dgm:prSet>
      <dgm:spPr/>
    </dgm:pt>
    <dgm:pt modelId="{361C1C8C-8B37-4014-BBC8-83E688F5DD71}" type="pres">
      <dgm:prSet presAssocID="{3DA398C5-21B3-402A-AEFA-18403C098F88}" presName="sibTrans" presStyleCnt="0"/>
      <dgm:spPr/>
    </dgm:pt>
    <dgm:pt modelId="{4AB4F43B-570F-4BEB-B935-553BA55A94C2}" type="pres">
      <dgm:prSet presAssocID="{72B6AD2F-C51F-44E3-B3BA-5F75837D938B}" presName="compNode" presStyleCnt="0"/>
      <dgm:spPr/>
    </dgm:pt>
    <dgm:pt modelId="{445DD709-2EC9-4B16-8793-C4CF72E38AEA}" type="pres">
      <dgm:prSet presAssocID="{72B6AD2F-C51F-44E3-B3BA-5F75837D938B}"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BD981B93-C925-4B3E-BC86-EFF9188AD776}" type="pres">
      <dgm:prSet presAssocID="{72B6AD2F-C51F-44E3-B3BA-5F75837D938B}" presName="spaceRect" presStyleCnt="0"/>
      <dgm:spPr/>
    </dgm:pt>
    <dgm:pt modelId="{10E5B512-5342-4E58-9E01-31448C0D2E3A}" type="pres">
      <dgm:prSet presAssocID="{72B6AD2F-C51F-44E3-B3BA-5F75837D938B}" presName="textRect" presStyleLbl="revTx" presStyleIdx="1" presStyleCnt="6">
        <dgm:presLayoutVars>
          <dgm:chMax val="1"/>
          <dgm:chPref val="1"/>
        </dgm:presLayoutVars>
      </dgm:prSet>
      <dgm:spPr/>
    </dgm:pt>
    <dgm:pt modelId="{5B2E266D-A44A-4D4A-BDAC-73C4B5173FD2}" type="pres">
      <dgm:prSet presAssocID="{EC01F27F-03DD-44E6-AA5C-6303279A4E95}" presName="sibTrans" presStyleCnt="0"/>
      <dgm:spPr/>
    </dgm:pt>
    <dgm:pt modelId="{0B5A4CA7-AEBF-4429-80E4-E2F1D3C84FE5}" type="pres">
      <dgm:prSet presAssocID="{D0F52E45-A089-4FA5-A9B2-F031D7A5C3DD}" presName="compNode" presStyleCnt="0"/>
      <dgm:spPr/>
    </dgm:pt>
    <dgm:pt modelId="{22572602-857E-4F64-A267-81BAF4120A55}" type="pres">
      <dgm:prSet presAssocID="{D0F52E45-A089-4FA5-A9B2-F031D7A5C3DD}"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yncing Cloud"/>
        </a:ext>
      </dgm:extLst>
    </dgm:pt>
    <dgm:pt modelId="{58E883D7-CC70-4EC8-9D1C-29180718F923}" type="pres">
      <dgm:prSet presAssocID="{D0F52E45-A089-4FA5-A9B2-F031D7A5C3DD}" presName="spaceRect" presStyleCnt="0"/>
      <dgm:spPr/>
    </dgm:pt>
    <dgm:pt modelId="{7DC33149-BA26-4ED8-A15E-558E190D6D4F}" type="pres">
      <dgm:prSet presAssocID="{D0F52E45-A089-4FA5-A9B2-F031D7A5C3DD}" presName="textRect" presStyleLbl="revTx" presStyleIdx="2" presStyleCnt="6">
        <dgm:presLayoutVars>
          <dgm:chMax val="1"/>
          <dgm:chPref val="1"/>
        </dgm:presLayoutVars>
      </dgm:prSet>
      <dgm:spPr/>
    </dgm:pt>
    <dgm:pt modelId="{B6584F0F-EBCF-44CB-B152-78DBB742EAE9}" type="pres">
      <dgm:prSet presAssocID="{139802C9-1C69-4F2D-A595-3919E824D4A2}" presName="sibTrans" presStyleCnt="0"/>
      <dgm:spPr/>
    </dgm:pt>
    <dgm:pt modelId="{07C459E1-33B9-428A-8ED1-1EE09AA2A19C}" type="pres">
      <dgm:prSet presAssocID="{BB991A67-7F5D-41CA-B6D7-201AAB0F85E3}" presName="compNode" presStyleCnt="0"/>
      <dgm:spPr/>
    </dgm:pt>
    <dgm:pt modelId="{728BE1D8-46C8-45F9-873E-8B58D8801AC8}" type="pres">
      <dgm:prSet presAssocID="{BB991A67-7F5D-41CA-B6D7-201AAB0F85E3}"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redder"/>
        </a:ext>
      </dgm:extLst>
    </dgm:pt>
    <dgm:pt modelId="{C43915A0-A747-49E7-BDF0-F25EE58E271C}" type="pres">
      <dgm:prSet presAssocID="{BB991A67-7F5D-41CA-B6D7-201AAB0F85E3}" presName="spaceRect" presStyleCnt="0"/>
      <dgm:spPr/>
    </dgm:pt>
    <dgm:pt modelId="{49DFBF03-5F42-4037-9F09-CBB1356B1F06}" type="pres">
      <dgm:prSet presAssocID="{BB991A67-7F5D-41CA-B6D7-201AAB0F85E3}" presName="textRect" presStyleLbl="revTx" presStyleIdx="3" presStyleCnt="6">
        <dgm:presLayoutVars>
          <dgm:chMax val="1"/>
          <dgm:chPref val="1"/>
        </dgm:presLayoutVars>
      </dgm:prSet>
      <dgm:spPr/>
    </dgm:pt>
    <dgm:pt modelId="{31EDFCD2-1A69-4F99-8A07-C456C95D99ED}" type="pres">
      <dgm:prSet presAssocID="{261A2141-151F-4326-AD81-E739B30ED031}" presName="sibTrans" presStyleCnt="0"/>
      <dgm:spPr/>
    </dgm:pt>
    <dgm:pt modelId="{B19849A6-3FBA-440E-B7AE-AFFBD742A053}" type="pres">
      <dgm:prSet presAssocID="{7EC57F9C-FD6A-4E5F-9285-31F478FE3DBC}" presName="compNode" presStyleCnt="0"/>
      <dgm:spPr/>
    </dgm:pt>
    <dgm:pt modelId="{79D18FC5-4674-469E-8342-867E493F5D11}" type="pres">
      <dgm:prSet presAssocID="{7EC57F9C-FD6A-4E5F-9285-31F478FE3DBC}"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61C634FF-8519-4933-9E73-146E38D3D603}" type="pres">
      <dgm:prSet presAssocID="{7EC57F9C-FD6A-4E5F-9285-31F478FE3DBC}" presName="spaceRect" presStyleCnt="0"/>
      <dgm:spPr/>
    </dgm:pt>
    <dgm:pt modelId="{FD8BA917-268D-4C79-9A3C-3BCC8B4BFB2A}" type="pres">
      <dgm:prSet presAssocID="{7EC57F9C-FD6A-4E5F-9285-31F478FE3DBC}" presName="textRect" presStyleLbl="revTx" presStyleIdx="4" presStyleCnt="6">
        <dgm:presLayoutVars>
          <dgm:chMax val="1"/>
          <dgm:chPref val="1"/>
        </dgm:presLayoutVars>
      </dgm:prSet>
      <dgm:spPr/>
    </dgm:pt>
    <dgm:pt modelId="{2F112AB2-84A4-4CA8-B132-50CFCE232DFA}" type="pres">
      <dgm:prSet presAssocID="{03835C08-054B-40AE-8264-9726F8ED5910}" presName="sibTrans" presStyleCnt="0"/>
      <dgm:spPr/>
    </dgm:pt>
    <dgm:pt modelId="{D34E2117-7A60-47D7-ADBB-40216695A5FC}" type="pres">
      <dgm:prSet presAssocID="{FE32EAAC-16F5-4CAF-849E-49206BC85002}" presName="compNode" presStyleCnt="0"/>
      <dgm:spPr/>
    </dgm:pt>
    <dgm:pt modelId="{64BEDB7D-71D9-4A38-B022-2C825F1ECEC1}" type="pres">
      <dgm:prSet presAssocID="{FE32EAAC-16F5-4CAF-849E-49206BC85002}"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ilter"/>
        </a:ext>
      </dgm:extLst>
    </dgm:pt>
    <dgm:pt modelId="{EAB52E61-6F5E-435B-9F6D-F8B3D8E9B620}" type="pres">
      <dgm:prSet presAssocID="{FE32EAAC-16F5-4CAF-849E-49206BC85002}" presName="spaceRect" presStyleCnt="0"/>
      <dgm:spPr/>
    </dgm:pt>
    <dgm:pt modelId="{5F1680C6-21F1-41C3-9962-268D4800942A}" type="pres">
      <dgm:prSet presAssocID="{FE32EAAC-16F5-4CAF-849E-49206BC85002}" presName="textRect" presStyleLbl="revTx" presStyleIdx="5" presStyleCnt="6">
        <dgm:presLayoutVars>
          <dgm:chMax val="1"/>
          <dgm:chPref val="1"/>
        </dgm:presLayoutVars>
      </dgm:prSet>
      <dgm:spPr/>
    </dgm:pt>
  </dgm:ptLst>
  <dgm:cxnLst>
    <dgm:cxn modelId="{1D8F223A-7BEA-4FA9-8AEA-7F1D0B0BFFBA}" type="presOf" srcId="{FE32EAAC-16F5-4CAF-849E-49206BC85002}" destId="{5F1680C6-21F1-41C3-9962-268D4800942A}" srcOrd="0" destOrd="0" presId="urn:microsoft.com/office/officeart/2018/2/layout/IconLabelList"/>
    <dgm:cxn modelId="{93B0D23D-1CB0-424E-A81D-5828B68D5546}" type="presOf" srcId="{D0F52E45-A089-4FA5-A9B2-F031D7A5C3DD}" destId="{7DC33149-BA26-4ED8-A15E-558E190D6D4F}" srcOrd="0" destOrd="0" presId="urn:microsoft.com/office/officeart/2018/2/layout/IconLabelList"/>
    <dgm:cxn modelId="{E1A1F75D-655D-4A26-9470-95EC23AE98A3}" type="presOf" srcId="{7EC57F9C-FD6A-4E5F-9285-31F478FE3DBC}" destId="{FD8BA917-268D-4C79-9A3C-3BCC8B4BFB2A}" srcOrd="0" destOrd="0" presId="urn:microsoft.com/office/officeart/2018/2/layout/IconLabelList"/>
    <dgm:cxn modelId="{82370248-63DB-439C-835E-6585B6D24BB3}" srcId="{45033942-4B63-42A1-A731-1393ABD09F0F}" destId="{FE32EAAC-16F5-4CAF-849E-49206BC85002}" srcOrd="5" destOrd="0" parTransId="{666C4F9A-9749-45FA-87DD-CE7BB9DDD0CC}" sibTransId="{45BEDD61-C2BA-4967-BF21-619055938F70}"/>
    <dgm:cxn modelId="{91D4B84E-EE29-48FE-9B78-D68F411E0143}" type="presOf" srcId="{BB991A67-7F5D-41CA-B6D7-201AAB0F85E3}" destId="{49DFBF03-5F42-4037-9F09-CBB1356B1F06}" srcOrd="0" destOrd="0" presId="urn:microsoft.com/office/officeart/2018/2/layout/IconLabelList"/>
    <dgm:cxn modelId="{3791EA84-5D14-4529-8728-59ABE3081D92}" srcId="{45033942-4B63-42A1-A731-1393ABD09F0F}" destId="{7EC57F9C-FD6A-4E5F-9285-31F478FE3DBC}" srcOrd="4" destOrd="0" parTransId="{8A59C284-A4FB-4D26-89EA-DC63CBBE91AF}" sibTransId="{03835C08-054B-40AE-8264-9726F8ED5910}"/>
    <dgm:cxn modelId="{2C0D4D8B-AAE7-4263-816C-A3FA3A65AEFA}" srcId="{45033942-4B63-42A1-A731-1393ABD09F0F}" destId="{72B6AD2F-C51F-44E3-B3BA-5F75837D938B}" srcOrd="1" destOrd="0" parTransId="{DD8C127D-2472-433E-9B0E-6BFC461B22AC}" sibTransId="{EC01F27F-03DD-44E6-AA5C-6303279A4E95}"/>
    <dgm:cxn modelId="{195407BA-8191-42C2-BC63-2300C1506FB6}" srcId="{45033942-4B63-42A1-A731-1393ABD09F0F}" destId="{D0F52E45-A089-4FA5-A9B2-F031D7A5C3DD}" srcOrd="2" destOrd="0" parTransId="{1F812797-C79D-4DBD-9684-62BBC2F98852}" sibTransId="{139802C9-1C69-4F2D-A595-3919E824D4A2}"/>
    <dgm:cxn modelId="{436C23BE-7E36-427F-9426-6DCAECF990AD}" type="presOf" srcId="{72B6AD2F-C51F-44E3-B3BA-5F75837D938B}" destId="{10E5B512-5342-4E58-9E01-31448C0D2E3A}" srcOrd="0" destOrd="0" presId="urn:microsoft.com/office/officeart/2018/2/layout/IconLabelList"/>
    <dgm:cxn modelId="{0E399BBF-CB15-4C5A-BB19-5E6C1E0BC976}" type="presOf" srcId="{A2A7850A-CCC9-4213-B511-E12BA439DE41}" destId="{A174BED7-9CC4-46FE-9450-D9C16DCB8843}" srcOrd="0" destOrd="0" presId="urn:microsoft.com/office/officeart/2018/2/layout/IconLabelList"/>
    <dgm:cxn modelId="{D87C18D3-0D61-48DB-99C9-2BFFB09DE254}" srcId="{45033942-4B63-42A1-A731-1393ABD09F0F}" destId="{BB991A67-7F5D-41CA-B6D7-201AAB0F85E3}" srcOrd="3" destOrd="0" parTransId="{7C09A34F-3DAA-4B0B-AE0F-E86B59DFB880}" sibTransId="{261A2141-151F-4326-AD81-E739B30ED031}"/>
    <dgm:cxn modelId="{2114D4E9-AA4B-4756-ACA5-AC3353CFF2DC}" srcId="{45033942-4B63-42A1-A731-1393ABD09F0F}" destId="{A2A7850A-CCC9-4213-B511-E12BA439DE41}" srcOrd="0" destOrd="0" parTransId="{FA8BF5F1-4E93-4708-A4C8-00AF00976748}" sibTransId="{3DA398C5-21B3-402A-AEFA-18403C098F88}"/>
    <dgm:cxn modelId="{4167CDF2-DF1E-44AD-8402-2D7353D8CAE3}" type="presOf" srcId="{45033942-4B63-42A1-A731-1393ABD09F0F}" destId="{D06CC8AF-31F5-4414-8055-2F5070BD0C1A}" srcOrd="0" destOrd="0" presId="urn:microsoft.com/office/officeart/2018/2/layout/IconLabelList"/>
    <dgm:cxn modelId="{28931EEC-78B7-46B2-AB19-431B1408D19F}" type="presParOf" srcId="{D06CC8AF-31F5-4414-8055-2F5070BD0C1A}" destId="{DE138038-57EE-4D30-B1FA-0CC989DFD44D}" srcOrd="0" destOrd="0" presId="urn:microsoft.com/office/officeart/2018/2/layout/IconLabelList"/>
    <dgm:cxn modelId="{FA028F0D-DA94-4B54-B1E0-D9DC59D0FD25}" type="presParOf" srcId="{DE138038-57EE-4D30-B1FA-0CC989DFD44D}" destId="{2C7F8CAA-FD58-44F6-B8DA-F11640E8A137}" srcOrd="0" destOrd="0" presId="urn:microsoft.com/office/officeart/2018/2/layout/IconLabelList"/>
    <dgm:cxn modelId="{45EAA1A7-2D17-4924-B397-5715A028F76B}" type="presParOf" srcId="{DE138038-57EE-4D30-B1FA-0CC989DFD44D}" destId="{84F3E683-EBF8-4F47-B9CA-3B40DBDFCACB}" srcOrd="1" destOrd="0" presId="urn:microsoft.com/office/officeart/2018/2/layout/IconLabelList"/>
    <dgm:cxn modelId="{C34A47AB-2839-44C9-9CD3-FD6D1965FE19}" type="presParOf" srcId="{DE138038-57EE-4D30-B1FA-0CC989DFD44D}" destId="{A174BED7-9CC4-46FE-9450-D9C16DCB8843}" srcOrd="2" destOrd="0" presId="urn:microsoft.com/office/officeart/2018/2/layout/IconLabelList"/>
    <dgm:cxn modelId="{4707CFF0-6E14-4C70-8BF4-1C64C9A189EF}" type="presParOf" srcId="{D06CC8AF-31F5-4414-8055-2F5070BD0C1A}" destId="{361C1C8C-8B37-4014-BBC8-83E688F5DD71}" srcOrd="1" destOrd="0" presId="urn:microsoft.com/office/officeart/2018/2/layout/IconLabelList"/>
    <dgm:cxn modelId="{BFD2A315-79DD-4F89-B0AF-93F383CE2CF3}" type="presParOf" srcId="{D06CC8AF-31F5-4414-8055-2F5070BD0C1A}" destId="{4AB4F43B-570F-4BEB-B935-553BA55A94C2}" srcOrd="2" destOrd="0" presId="urn:microsoft.com/office/officeart/2018/2/layout/IconLabelList"/>
    <dgm:cxn modelId="{E2F87A65-056F-4F90-B866-32FA610BF3A8}" type="presParOf" srcId="{4AB4F43B-570F-4BEB-B935-553BA55A94C2}" destId="{445DD709-2EC9-4B16-8793-C4CF72E38AEA}" srcOrd="0" destOrd="0" presId="urn:microsoft.com/office/officeart/2018/2/layout/IconLabelList"/>
    <dgm:cxn modelId="{BC55EDFF-8B20-4B5E-A8E7-C9411EECFC05}" type="presParOf" srcId="{4AB4F43B-570F-4BEB-B935-553BA55A94C2}" destId="{BD981B93-C925-4B3E-BC86-EFF9188AD776}" srcOrd="1" destOrd="0" presId="urn:microsoft.com/office/officeart/2018/2/layout/IconLabelList"/>
    <dgm:cxn modelId="{CB73F205-7759-42DD-8B9A-9AF878E4C897}" type="presParOf" srcId="{4AB4F43B-570F-4BEB-B935-553BA55A94C2}" destId="{10E5B512-5342-4E58-9E01-31448C0D2E3A}" srcOrd="2" destOrd="0" presId="urn:microsoft.com/office/officeart/2018/2/layout/IconLabelList"/>
    <dgm:cxn modelId="{CC67123A-632F-4D2A-A381-76DD4D18ACFD}" type="presParOf" srcId="{D06CC8AF-31F5-4414-8055-2F5070BD0C1A}" destId="{5B2E266D-A44A-4D4A-BDAC-73C4B5173FD2}" srcOrd="3" destOrd="0" presId="urn:microsoft.com/office/officeart/2018/2/layout/IconLabelList"/>
    <dgm:cxn modelId="{3A298B4E-812C-4153-A74F-718CE762C649}" type="presParOf" srcId="{D06CC8AF-31F5-4414-8055-2F5070BD0C1A}" destId="{0B5A4CA7-AEBF-4429-80E4-E2F1D3C84FE5}" srcOrd="4" destOrd="0" presId="urn:microsoft.com/office/officeart/2018/2/layout/IconLabelList"/>
    <dgm:cxn modelId="{A4AF5BB9-7271-47ED-8079-B4383E9858EF}" type="presParOf" srcId="{0B5A4CA7-AEBF-4429-80E4-E2F1D3C84FE5}" destId="{22572602-857E-4F64-A267-81BAF4120A55}" srcOrd="0" destOrd="0" presId="urn:microsoft.com/office/officeart/2018/2/layout/IconLabelList"/>
    <dgm:cxn modelId="{5CB04962-F788-4E20-9E62-D2196A2C0251}" type="presParOf" srcId="{0B5A4CA7-AEBF-4429-80E4-E2F1D3C84FE5}" destId="{58E883D7-CC70-4EC8-9D1C-29180718F923}" srcOrd="1" destOrd="0" presId="urn:microsoft.com/office/officeart/2018/2/layout/IconLabelList"/>
    <dgm:cxn modelId="{1041C79E-E2AA-4F48-A525-A99752528A77}" type="presParOf" srcId="{0B5A4CA7-AEBF-4429-80E4-E2F1D3C84FE5}" destId="{7DC33149-BA26-4ED8-A15E-558E190D6D4F}" srcOrd="2" destOrd="0" presId="urn:microsoft.com/office/officeart/2018/2/layout/IconLabelList"/>
    <dgm:cxn modelId="{1FD77277-4100-48AC-B7AE-7E83C992F7CD}" type="presParOf" srcId="{D06CC8AF-31F5-4414-8055-2F5070BD0C1A}" destId="{B6584F0F-EBCF-44CB-B152-78DBB742EAE9}" srcOrd="5" destOrd="0" presId="urn:microsoft.com/office/officeart/2018/2/layout/IconLabelList"/>
    <dgm:cxn modelId="{3A4435F1-6456-4F5F-88F8-CB24958099C8}" type="presParOf" srcId="{D06CC8AF-31F5-4414-8055-2F5070BD0C1A}" destId="{07C459E1-33B9-428A-8ED1-1EE09AA2A19C}" srcOrd="6" destOrd="0" presId="urn:microsoft.com/office/officeart/2018/2/layout/IconLabelList"/>
    <dgm:cxn modelId="{CDAE6B20-A6D3-40CD-9E70-56118A667978}" type="presParOf" srcId="{07C459E1-33B9-428A-8ED1-1EE09AA2A19C}" destId="{728BE1D8-46C8-45F9-873E-8B58D8801AC8}" srcOrd="0" destOrd="0" presId="urn:microsoft.com/office/officeart/2018/2/layout/IconLabelList"/>
    <dgm:cxn modelId="{D11AE113-23F2-4B2E-BE82-DA73635A850F}" type="presParOf" srcId="{07C459E1-33B9-428A-8ED1-1EE09AA2A19C}" destId="{C43915A0-A747-49E7-BDF0-F25EE58E271C}" srcOrd="1" destOrd="0" presId="urn:microsoft.com/office/officeart/2018/2/layout/IconLabelList"/>
    <dgm:cxn modelId="{AF482144-9BED-45DD-9764-DF7383FD2A47}" type="presParOf" srcId="{07C459E1-33B9-428A-8ED1-1EE09AA2A19C}" destId="{49DFBF03-5F42-4037-9F09-CBB1356B1F06}" srcOrd="2" destOrd="0" presId="urn:microsoft.com/office/officeart/2018/2/layout/IconLabelList"/>
    <dgm:cxn modelId="{85E6A2BE-0B8A-4B2C-BB82-59C4795B43BB}" type="presParOf" srcId="{D06CC8AF-31F5-4414-8055-2F5070BD0C1A}" destId="{31EDFCD2-1A69-4F99-8A07-C456C95D99ED}" srcOrd="7" destOrd="0" presId="urn:microsoft.com/office/officeart/2018/2/layout/IconLabelList"/>
    <dgm:cxn modelId="{14B77C80-3B80-4133-9663-883F8650D3F7}" type="presParOf" srcId="{D06CC8AF-31F5-4414-8055-2F5070BD0C1A}" destId="{B19849A6-3FBA-440E-B7AE-AFFBD742A053}" srcOrd="8" destOrd="0" presId="urn:microsoft.com/office/officeart/2018/2/layout/IconLabelList"/>
    <dgm:cxn modelId="{45791F44-B958-4951-902F-5CD22DEF6BAB}" type="presParOf" srcId="{B19849A6-3FBA-440E-B7AE-AFFBD742A053}" destId="{79D18FC5-4674-469E-8342-867E493F5D11}" srcOrd="0" destOrd="0" presId="urn:microsoft.com/office/officeart/2018/2/layout/IconLabelList"/>
    <dgm:cxn modelId="{B3BDF32E-979D-4B65-9476-178E4C41B680}" type="presParOf" srcId="{B19849A6-3FBA-440E-B7AE-AFFBD742A053}" destId="{61C634FF-8519-4933-9E73-146E38D3D603}" srcOrd="1" destOrd="0" presId="urn:microsoft.com/office/officeart/2018/2/layout/IconLabelList"/>
    <dgm:cxn modelId="{CE7E1278-DEFD-4186-8E41-E365018A3BE9}" type="presParOf" srcId="{B19849A6-3FBA-440E-B7AE-AFFBD742A053}" destId="{FD8BA917-268D-4C79-9A3C-3BCC8B4BFB2A}" srcOrd="2" destOrd="0" presId="urn:microsoft.com/office/officeart/2018/2/layout/IconLabelList"/>
    <dgm:cxn modelId="{8D362463-1FF3-4AB5-A8F9-8D90DA28091E}" type="presParOf" srcId="{D06CC8AF-31F5-4414-8055-2F5070BD0C1A}" destId="{2F112AB2-84A4-4CA8-B132-50CFCE232DFA}" srcOrd="9" destOrd="0" presId="urn:microsoft.com/office/officeart/2018/2/layout/IconLabelList"/>
    <dgm:cxn modelId="{0C36FFE2-8812-40B4-880A-899ACAA331A4}" type="presParOf" srcId="{D06CC8AF-31F5-4414-8055-2F5070BD0C1A}" destId="{D34E2117-7A60-47D7-ADBB-40216695A5FC}" srcOrd="10" destOrd="0" presId="urn:microsoft.com/office/officeart/2018/2/layout/IconLabelList"/>
    <dgm:cxn modelId="{3AB88D08-7CBB-48CE-BF9A-F4A9D0C7DABD}" type="presParOf" srcId="{D34E2117-7A60-47D7-ADBB-40216695A5FC}" destId="{64BEDB7D-71D9-4A38-B022-2C825F1ECEC1}" srcOrd="0" destOrd="0" presId="urn:microsoft.com/office/officeart/2018/2/layout/IconLabelList"/>
    <dgm:cxn modelId="{ABAAE52B-6E0C-48D1-BBA9-2AF280250BDA}" type="presParOf" srcId="{D34E2117-7A60-47D7-ADBB-40216695A5FC}" destId="{EAB52E61-6F5E-435B-9F6D-F8B3D8E9B620}" srcOrd="1" destOrd="0" presId="urn:microsoft.com/office/officeart/2018/2/layout/IconLabelList"/>
    <dgm:cxn modelId="{24D7D4E9-F838-44BD-AF40-BA87BE6A28E0}" type="presParOf" srcId="{D34E2117-7A60-47D7-ADBB-40216695A5FC}" destId="{5F1680C6-21F1-41C3-9962-268D4800942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35F7BA-DC7D-4BDD-A64F-8C40F2F92E4E}"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18E8882-BB75-4BAA-AA06-A25E0087306F}">
      <dgm:prSet/>
      <dgm:spPr/>
      <dgm:t>
        <a:bodyPr/>
        <a:lstStyle/>
        <a:p>
          <a:r>
            <a:rPr lang="en-US" dirty="0"/>
            <a:t>How are Images </a:t>
          </a:r>
          <a:r>
            <a:rPr lang="en-US" dirty="0" err="1"/>
            <a:t>formed:When</a:t>
          </a:r>
          <a:r>
            <a:rPr lang="en-US" dirty="0"/>
            <a:t> you build an image (typically via a </a:t>
          </a:r>
          <a:r>
            <a:rPr lang="en-US" dirty="0" err="1"/>
            <a:t>Dockerfile</a:t>
          </a:r>
          <a:r>
            <a:rPr lang="en-US" dirty="0"/>
            <a:t>), each instruction creates a new layer.</a:t>
          </a:r>
        </a:p>
      </dgm:t>
    </dgm:pt>
    <dgm:pt modelId="{739E38D8-35F8-46A2-9655-FACD382C825A}" type="parTrans" cxnId="{DC395FE5-F1A7-46CE-A873-40CF655CFD7E}">
      <dgm:prSet/>
      <dgm:spPr/>
      <dgm:t>
        <a:bodyPr/>
        <a:lstStyle/>
        <a:p>
          <a:endParaRPr lang="en-US"/>
        </a:p>
      </dgm:t>
    </dgm:pt>
    <dgm:pt modelId="{078DC4D8-CD50-4ED4-AE94-307F5734C380}" type="sibTrans" cxnId="{DC395FE5-F1A7-46CE-A873-40CF655CFD7E}">
      <dgm:prSet/>
      <dgm:spPr/>
      <dgm:t>
        <a:bodyPr/>
        <a:lstStyle/>
        <a:p>
          <a:endParaRPr lang="en-US"/>
        </a:p>
      </dgm:t>
    </dgm:pt>
    <dgm:pt modelId="{250BED17-1932-4352-A163-9871A8AE3924}">
      <dgm:prSet/>
      <dgm:spPr/>
      <dgm:t>
        <a:bodyPr/>
        <a:lstStyle/>
        <a:p>
          <a:r>
            <a:rPr lang="en-US" b="1"/>
            <a:t>Layering:</a:t>
          </a:r>
          <a:r>
            <a:rPr lang="en-US"/>
            <a:t> If your Dockerfile has a FROM ubuntu line, followed by RUN apt-get install python, and then COPY app.py, you have three distinct layers.</a:t>
          </a:r>
          <a:br>
            <a:rPr lang="en-US"/>
          </a:br>
          <a:endParaRPr lang="en-US"/>
        </a:p>
      </dgm:t>
    </dgm:pt>
    <dgm:pt modelId="{261987DC-B35C-404E-8AE9-CA4EFF6EB3D6}" type="parTrans" cxnId="{5730A68B-8FBC-4E5A-ADBE-84B047A44007}">
      <dgm:prSet/>
      <dgm:spPr/>
      <dgm:t>
        <a:bodyPr/>
        <a:lstStyle/>
        <a:p>
          <a:endParaRPr lang="en-US"/>
        </a:p>
      </dgm:t>
    </dgm:pt>
    <dgm:pt modelId="{E8ACFE9E-08AE-43F3-8858-9B105BBD19EA}" type="sibTrans" cxnId="{5730A68B-8FBC-4E5A-ADBE-84B047A44007}">
      <dgm:prSet/>
      <dgm:spPr/>
      <dgm:t>
        <a:bodyPr/>
        <a:lstStyle/>
        <a:p>
          <a:endParaRPr lang="en-US"/>
        </a:p>
      </dgm:t>
    </dgm:pt>
    <dgm:pt modelId="{F43B9837-E676-42CE-8328-D47F351F7DA9}">
      <dgm:prSet/>
      <dgm:spPr/>
      <dgm:t>
        <a:bodyPr/>
        <a:lstStyle/>
        <a:p>
          <a:r>
            <a:rPr lang="en-US" b="1"/>
            <a:t>Copy-on-Write (CoW) Strategy:</a:t>
          </a:r>
          <a:r>
            <a:rPr lang="en-US"/>
            <a:t> This is the core logic. When a layer needs to modify a file from a previous layer, it copies the file to the new layer and applies the changes there. The original file remains unchanged in the underlying layer.</a:t>
          </a:r>
        </a:p>
      </dgm:t>
    </dgm:pt>
    <dgm:pt modelId="{7BAF3999-9DB3-4C27-8286-0DB567C1122D}" type="parTrans" cxnId="{B2261040-3526-4915-ADF1-9E0C10809CE1}">
      <dgm:prSet/>
      <dgm:spPr/>
      <dgm:t>
        <a:bodyPr/>
        <a:lstStyle/>
        <a:p>
          <a:endParaRPr lang="en-US"/>
        </a:p>
      </dgm:t>
    </dgm:pt>
    <dgm:pt modelId="{49FA07A6-FEEA-4F10-BADD-7BBBA43FFD13}" type="sibTrans" cxnId="{B2261040-3526-4915-ADF1-9E0C10809CE1}">
      <dgm:prSet/>
      <dgm:spPr/>
      <dgm:t>
        <a:bodyPr/>
        <a:lstStyle/>
        <a:p>
          <a:endParaRPr lang="en-US"/>
        </a:p>
      </dgm:t>
    </dgm:pt>
    <dgm:pt modelId="{0B4ADC40-1994-4454-A6AB-074E0204754C}" type="pres">
      <dgm:prSet presAssocID="{B535F7BA-DC7D-4BDD-A64F-8C40F2F92E4E}" presName="outerComposite" presStyleCnt="0">
        <dgm:presLayoutVars>
          <dgm:chMax val="5"/>
          <dgm:dir/>
          <dgm:resizeHandles val="exact"/>
        </dgm:presLayoutVars>
      </dgm:prSet>
      <dgm:spPr/>
    </dgm:pt>
    <dgm:pt modelId="{4BCC61FD-BEDE-4CD0-A797-B51E66190D15}" type="pres">
      <dgm:prSet presAssocID="{B535F7BA-DC7D-4BDD-A64F-8C40F2F92E4E}" presName="dummyMaxCanvas" presStyleCnt="0">
        <dgm:presLayoutVars/>
      </dgm:prSet>
      <dgm:spPr/>
    </dgm:pt>
    <dgm:pt modelId="{E5F5148A-9EBF-4CA3-8EB3-ACFBE8E30D65}" type="pres">
      <dgm:prSet presAssocID="{B535F7BA-DC7D-4BDD-A64F-8C40F2F92E4E}" presName="ThreeNodes_1" presStyleLbl="node1" presStyleIdx="0" presStyleCnt="3">
        <dgm:presLayoutVars>
          <dgm:bulletEnabled val="1"/>
        </dgm:presLayoutVars>
      </dgm:prSet>
      <dgm:spPr/>
    </dgm:pt>
    <dgm:pt modelId="{19C91329-9CEF-4A96-B007-2644D6B408AD}" type="pres">
      <dgm:prSet presAssocID="{B535F7BA-DC7D-4BDD-A64F-8C40F2F92E4E}" presName="ThreeNodes_2" presStyleLbl="node1" presStyleIdx="1" presStyleCnt="3">
        <dgm:presLayoutVars>
          <dgm:bulletEnabled val="1"/>
        </dgm:presLayoutVars>
      </dgm:prSet>
      <dgm:spPr/>
    </dgm:pt>
    <dgm:pt modelId="{B7309A61-6FCE-4420-943F-F11A39ED9A02}" type="pres">
      <dgm:prSet presAssocID="{B535F7BA-DC7D-4BDD-A64F-8C40F2F92E4E}" presName="ThreeNodes_3" presStyleLbl="node1" presStyleIdx="2" presStyleCnt="3">
        <dgm:presLayoutVars>
          <dgm:bulletEnabled val="1"/>
        </dgm:presLayoutVars>
      </dgm:prSet>
      <dgm:spPr/>
    </dgm:pt>
    <dgm:pt modelId="{3EF96425-512A-4EE6-B413-49F00EF53F17}" type="pres">
      <dgm:prSet presAssocID="{B535F7BA-DC7D-4BDD-A64F-8C40F2F92E4E}" presName="ThreeConn_1-2" presStyleLbl="fgAccFollowNode1" presStyleIdx="0" presStyleCnt="2">
        <dgm:presLayoutVars>
          <dgm:bulletEnabled val="1"/>
        </dgm:presLayoutVars>
      </dgm:prSet>
      <dgm:spPr/>
    </dgm:pt>
    <dgm:pt modelId="{EB4427B7-0FD8-4A48-8756-69E7FB3937B3}" type="pres">
      <dgm:prSet presAssocID="{B535F7BA-DC7D-4BDD-A64F-8C40F2F92E4E}" presName="ThreeConn_2-3" presStyleLbl="fgAccFollowNode1" presStyleIdx="1" presStyleCnt="2">
        <dgm:presLayoutVars>
          <dgm:bulletEnabled val="1"/>
        </dgm:presLayoutVars>
      </dgm:prSet>
      <dgm:spPr/>
    </dgm:pt>
    <dgm:pt modelId="{9352C47E-6827-4936-9627-CC2DA4121931}" type="pres">
      <dgm:prSet presAssocID="{B535F7BA-DC7D-4BDD-A64F-8C40F2F92E4E}" presName="ThreeNodes_1_text" presStyleLbl="node1" presStyleIdx="2" presStyleCnt="3">
        <dgm:presLayoutVars>
          <dgm:bulletEnabled val="1"/>
        </dgm:presLayoutVars>
      </dgm:prSet>
      <dgm:spPr/>
    </dgm:pt>
    <dgm:pt modelId="{C05C3F5B-7DAD-4060-9239-94649AA4EDCE}" type="pres">
      <dgm:prSet presAssocID="{B535F7BA-DC7D-4BDD-A64F-8C40F2F92E4E}" presName="ThreeNodes_2_text" presStyleLbl="node1" presStyleIdx="2" presStyleCnt="3">
        <dgm:presLayoutVars>
          <dgm:bulletEnabled val="1"/>
        </dgm:presLayoutVars>
      </dgm:prSet>
      <dgm:spPr/>
    </dgm:pt>
    <dgm:pt modelId="{2CC3DCA9-77FD-485B-BCBE-F3BF30DF3403}" type="pres">
      <dgm:prSet presAssocID="{B535F7BA-DC7D-4BDD-A64F-8C40F2F92E4E}" presName="ThreeNodes_3_text" presStyleLbl="node1" presStyleIdx="2" presStyleCnt="3">
        <dgm:presLayoutVars>
          <dgm:bulletEnabled val="1"/>
        </dgm:presLayoutVars>
      </dgm:prSet>
      <dgm:spPr/>
    </dgm:pt>
  </dgm:ptLst>
  <dgm:cxnLst>
    <dgm:cxn modelId="{B2261040-3526-4915-ADF1-9E0C10809CE1}" srcId="{B535F7BA-DC7D-4BDD-A64F-8C40F2F92E4E}" destId="{F43B9837-E676-42CE-8328-D47F351F7DA9}" srcOrd="2" destOrd="0" parTransId="{7BAF3999-9DB3-4C27-8286-0DB567C1122D}" sibTransId="{49FA07A6-FEEA-4F10-BADD-7BBBA43FFD13}"/>
    <dgm:cxn modelId="{A2F5F660-CBF6-432E-A9B3-A904E549620E}" type="presOf" srcId="{018E8882-BB75-4BAA-AA06-A25E0087306F}" destId="{E5F5148A-9EBF-4CA3-8EB3-ACFBE8E30D65}" srcOrd="0" destOrd="0" presId="urn:microsoft.com/office/officeart/2005/8/layout/vProcess5"/>
    <dgm:cxn modelId="{45B9AB55-9B8D-4519-A264-6C522CBBF2D6}" type="presOf" srcId="{F43B9837-E676-42CE-8328-D47F351F7DA9}" destId="{2CC3DCA9-77FD-485B-BCBE-F3BF30DF3403}" srcOrd="1" destOrd="0" presId="urn:microsoft.com/office/officeart/2005/8/layout/vProcess5"/>
    <dgm:cxn modelId="{92BC7A81-6AA7-4EBF-BFB9-91841ECC9085}" type="presOf" srcId="{250BED17-1932-4352-A163-9871A8AE3924}" destId="{C05C3F5B-7DAD-4060-9239-94649AA4EDCE}" srcOrd="1" destOrd="0" presId="urn:microsoft.com/office/officeart/2005/8/layout/vProcess5"/>
    <dgm:cxn modelId="{5730A68B-8FBC-4E5A-ADBE-84B047A44007}" srcId="{B535F7BA-DC7D-4BDD-A64F-8C40F2F92E4E}" destId="{250BED17-1932-4352-A163-9871A8AE3924}" srcOrd="1" destOrd="0" parTransId="{261987DC-B35C-404E-8AE9-CA4EFF6EB3D6}" sibTransId="{E8ACFE9E-08AE-43F3-8858-9B105BBD19EA}"/>
    <dgm:cxn modelId="{182B0EA7-B1FB-44E3-B6CA-4793C2CD0E47}" type="presOf" srcId="{250BED17-1932-4352-A163-9871A8AE3924}" destId="{19C91329-9CEF-4A96-B007-2644D6B408AD}" srcOrd="0" destOrd="0" presId="urn:microsoft.com/office/officeart/2005/8/layout/vProcess5"/>
    <dgm:cxn modelId="{667785AF-C62F-4E29-9265-DC6ED6716A7D}" type="presOf" srcId="{018E8882-BB75-4BAA-AA06-A25E0087306F}" destId="{9352C47E-6827-4936-9627-CC2DA4121931}" srcOrd="1" destOrd="0" presId="urn:microsoft.com/office/officeart/2005/8/layout/vProcess5"/>
    <dgm:cxn modelId="{3D2033B2-47E3-4E52-8566-B41F12E21158}" type="presOf" srcId="{B535F7BA-DC7D-4BDD-A64F-8C40F2F92E4E}" destId="{0B4ADC40-1994-4454-A6AB-074E0204754C}" srcOrd="0" destOrd="0" presId="urn:microsoft.com/office/officeart/2005/8/layout/vProcess5"/>
    <dgm:cxn modelId="{0D05D5C0-0B1B-4A21-8469-E77BD09D85F8}" type="presOf" srcId="{F43B9837-E676-42CE-8328-D47F351F7DA9}" destId="{B7309A61-6FCE-4420-943F-F11A39ED9A02}" srcOrd="0" destOrd="0" presId="urn:microsoft.com/office/officeart/2005/8/layout/vProcess5"/>
    <dgm:cxn modelId="{00D037D2-5A35-43F3-82E4-6E5B4209441D}" type="presOf" srcId="{078DC4D8-CD50-4ED4-AE94-307F5734C380}" destId="{3EF96425-512A-4EE6-B413-49F00EF53F17}" srcOrd="0" destOrd="0" presId="urn:microsoft.com/office/officeart/2005/8/layout/vProcess5"/>
    <dgm:cxn modelId="{DC395FE5-F1A7-46CE-A873-40CF655CFD7E}" srcId="{B535F7BA-DC7D-4BDD-A64F-8C40F2F92E4E}" destId="{018E8882-BB75-4BAA-AA06-A25E0087306F}" srcOrd="0" destOrd="0" parTransId="{739E38D8-35F8-46A2-9655-FACD382C825A}" sibTransId="{078DC4D8-CD50-4ED4-AE94-307F5734C380}"/>
    <dgm:cxn modelId="{973A2EEF-6989-4848-9FC3-F51C0F983A9D}" type="presOf" srcId="{E8ACFE9E-08AE-43F3-8858-9B105BBD19EA}" destId="{EB4427B7-0FD8-4A48-8756-69E7FB3937B3}" srcOrd="0" destOrd="0" presId="urn:microsoft.com/office/officeart/2005/8/layout/vProcess5"/>
    <dgm:cxn modelId="{0C9C5525-F586-4170-8966-DC66AB1C28A1}" type="presParOf" srcId="{0B4ADC40-1994-4454-A6AB-074E0204754C}" destId="{4BCC61FD-BEDE-4CD0-A797-B51E66190D15}" srcOrd="0" destOrd="0" presId="urn:microsoft.com/office/officeart/2005/8/layout/vProcess5"/>
    <dgm:cxn modelId="{A933C14B-F92B-4FB3-9402-E0442E604301}" type="presParOf" srcId="{0B4ADC40-1994-4454-A6AB-074E0204754C}" destId="{E5F5148A-9EBF-4CA3-8EB3-ACFBE8E30D65}" srcOrd="1" destOrd="0" presId="urn:microsoft.com/office/officeart/2005/8/layout/vProcess5"/>
    <dgm:cxn modelId="{757AE2D7-C5F7-4233-BCB4-77A8197821FB}" type="presParOf" srcId="{0B4ADC40-1994-4454-A6AB-074E0204754C}" destId="{19C91329-9CEF-4A96-B007-2644D6B408AD}" srcOrd="2" destOrd="0" presId="urn:microsoft.com/office/officeart/2005/8/layout/vProcess5"/>
    <dgm:cxn modelId="{D4B96B6E-D15C-44AC-BDC3-FE5CEE613424}" type="presParOf" srcId="{0B4ADC40-1994-4454-A6AB-074E0204754C}" destId="{B7309A61-6FCE-4420-943F-F11A39ED9A02}" srcOrd="3" destOrd="0" presId="urn:microsoft.com/office/officeart/2005/8/layout/vProcess5"/>
    <dgm:cxn modelId="{8D4E62EF-BF6E-480B-B525-36A2D4A8AB03}" type="presParOf" srcId="{0B4ADC40-1994-4454-A6AB-074E0204754C}" destId="{3EF96425-512A-4EE6-B413-49F00EF53F17}" srcOrd="4" destOrd="0" presId="urn:microsoft.com/office/officeart/2005/8/layout/vProcess5"/>
    <dgm:cxn modelId="{F8A0B089-EA38-4B88-A178-C9424C4A1130}" type="presParOf" srcId="{0B4ADC40-1994-4454-A6AB-074E0204754C}" destId="{EB4427B7-0FD8-4A48-8756-69E7FB3937B3}" srcOrd="5" destOrd="0" presId="urn:microsoft.com/office/officeart/2005/8/layout/vProcess5"/>
    <dgm:cxn modelId="{6D35DBE1-3537-4094-82F3-EA2909AA8998}" type="presParOf" srcId="{0B4ADC40-1994-4454-A6AB-074E0204754C}" destId="{9352C47E-6827-4936-9627-CC2DA4121931}" srcOrd="6" destOrd="0" presId="urn:microsoft.com/office/officeart/2005/8/layout/vProcess5"/>
    <dgm:cxn modelId="{52A4DD4C-CD69-451C-A594-5B9359D7E029}" type="presParOf" srcId="{0B4ADC40-1994-4454-A6AB-074E0204754C}" destId="{C05C3F5B-7DAD-4060-9239-94649AA4EDCE}" srcOrd="7" destOrd="0" presId="urn:microsoft.com/office/officeart/2005/8/layout/vProcess5"/>
    <dgm:cxn modelId="{69D119B9-F512-494D-8452-8A8A843CBEEE}" type="presParOf" srcId="{0B4ADC40-1994-4454-A6AB-074E0204754C}" destId="{2CC3DCA9-77FD-485B-BCBE-F3BF30DF3403}"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118C84-EF6B-452E-9515-96C466A6235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EE433A4-BD70-4255-8AEF-D02A88A21174}">
      <dgm:prSet/>
      <dgm:spPr/>
      <dgm:t>
        <a:bodyPr/>
        <a:lstStyle/>
        <a:p>
          <a:r>
            <a:rPr lang="en-US"/>
            <a:t>Container vs. Image Transfer</a:t>
          </a:r>
        </a:p>
      </dgm:t>
    </dgm:pt>
    <dgm:pt modelId="{C6E80AE8-5423-4281-A92B-E972223FCC1F}" type="parTrans" cxnId="{C5FF0277-A6D0-4717-B3EF-5D81451F638C}">
      <dgm:prSet/>
      <dgm:spPr/>
      <dgm:t>
        <a:bodyPr/>
        <a:lstStyle/>
        <a:p>
          <a:endParaRPr lang="en-US"/>
        </a:p>
      </dgm:t>
    </dgm:pt>
    <dgm:pt modelId="{4E2846C2-2FA8-462C-942C-39773FCF6C2D}" type="sibTrans" cxnId="{C5FF0277-A6D0-4717-B3EF-5D81451F638C}">
      <dgm:prSet/>
      <dgm:spPr/>
      <dgm:t>
        <a:bodyPr/>
        <a:lstStyle/>
        <a:p>
          <a:endParaRPr lang="en-US"/>
        </a:p>
      </dgm:t>
    </dgm:pt>
    <dgm:pt modelId="{B64FF718-7D74-4704-87CF-AECAB2241385}">
      <dgm:prSet/>
      <dgm:spPr/>
      <dgm:t>
        <a:bodyPr/>
        <a:lstStyle/>
        <a:p>
          <a:r>
            <a:rPr lang="en-US" b="1" dirty="0"/>
            <a:t>What you actually transfer: </a:t>
          </a:r>
          <a:r>
            <a:rPr lang="en-US" dirty="0"/>
            <a:t>You transfer the Image, not the "Container.“</a:t>
          </a:r>
        </a:p>
      </dgm:t>
    </dgm:pt>
    <dgm:pt modelId="{797A70DA-7C5A-4A3C-9255-936601602F16}" type="parTrans" cxnId="{A30BAACE-F2A0-4B46-8055-0E7B7012B6FE}">
      <dgm:prSet/>
      <dgm:spPr/>
      <dgm:t>
        <a:bodyPr/>
        <a:lstStyle/>
        <a:p>
          <a:endParaRPr lang="en-US"/>
        </a:p>
      </dgm:t>
    </dgm:pt>
    <dgm:pt modelId="{46515E61-0EF6-4283-A18D-C087DC3CC634}" type="sibTrans" cxnId="{A30BAACE-F2A0-4B46-8055-0E7B7012B6FE}">
      <dgm:prSet/>
      <dgm:spPr/>
      <dgm:t>
        <a:bodyPr/>
        <a:lstStyle/>
        <a:p>
          <a:endParaRPr lang="en-US"/>
        </a:p>
      </dgm:t>
    </dgm:pt>
    <dgm:pt modelId="{FF1BC529-2089-4527-91A2-E985286CF2B9}">
      <dgm:prSet/>
      <dgm:spPr/>
      <dgm:t>
        <a:bodyPr/>
        <a:lstStyle/>
        <a:p>
          <a:r>
            <a:rPr lang="en-US" b="1" dirty="0"/>
            <a:t>The Difference: </a:t>
          </a:r>
          <a:r>
            <a:rPr lang="en-US" dirty="0"/>
            <a:t>A container is a running instance of an image. It consists of the read- only image layers plus a thin, "writable layer" on top.</a:t>
          </a:r>
        </a:p>
      </dgm:t>
    </dgm:pt>
    <dgm:pt modelId="{097D6210-4DFA-4719-BF41-44C6CAA69776}" type="parTrans" cxnId="{EE019C23-4925-4808-A0B8-87CDC64AF822}">
      <dgm:prSet/>
      <dgm:spPr/>
      <dgm:t>
        <a:bodyPr/>
        <a:lstStyle/>
        <a:p>
          <a:endParaRPr lang="en-US"/>
        </a:p>
      </dgm:t>
    </dgm:pt>
    <dgm:pt modelId="{748DF6B0-10A8-4701-A193-CE8D7AB32C95}" type="sibTrans" cxnId="{EE019C23-4925-4808-A0B8-87CDC64AF822}">
      <dgm:prSet/>
      <dgm:spPr/>
      <dgm:t>
        <a:bodyPr/>
        <a:lstStyle/>
        <a:p>
          <a:endParaRPr lang="en-US"/>
        </a:p>
      </dgm:t>
    </dgm:pt>
    <dgm:pt modelId="{ABF2457D-CA6C-4BB1-92EC-62D0C6913638}">
      <dgm:prSet/>
      <dgm:spPr/>
      <dgm:t>
        <a:bodyPr/>
        <a:lstStyle/>
        <a:p>
          <a:r>
            <a:rPr lang="en-US" b="1" dirty="0"/>
            <a:t>In Practice</a:t>
          </a:r>
          <a:r>
            <a:rPr lang="en-US" dirty="0"/>
            <a:t>: When you want to move your application, you push the image to a registry (like Docker Hub) and pull it elsewhere. If you have a running container with data written to its writable layer, that data is not included in the image transfer unless you explicitly </a:t>
          </a:r>
          <a:r>
            <a:rPr lang="en-US" dirty="0">
              <a:solidFill>
                <a:srgbClr val="FFFF00"/>
              </a:solidFill>
            </a:rPr>
            <a:t>commit</a:t>
          </a:r>
          <a:r>
            <a:rPr lang="en-US" dirty="0"/>
            <a:t> that container into a new image.</a:t>
          </a:r>
        </a:p>
      </dgm:t>
    </dgm:pt>
    <dgm:pt modelId="{6168107A-994A-41E2-8347-767C447F785A}" type="parTrans" cxnId="{62F12F11-A9AF-4BD4-B480-BA4CFCEF509A}">
      <dgm:prSet/>
      <dgm:spPr/>
      <dgm:t>
        <a:bodyPr/>
        <a:lstStyle/>
        <a:p>
          <a:endParaRPr lang="en-US"/>
        </a:p>
      </dgm:t>
    </dgm:pt>
    <dgm:pt modelId="{FC44FD74-55B2-4EEB-A0F7-8F0B2FCE46EF}" type="sibTrans" cxnId="{62F12F11-A9AF-4BD4-B480-BA4CFCEF509A}">
      <dgm:prSet/>
      <dgm:spPr/>
      <dgm:t>
        <a:bodyPr/>
        <a:lstStyle/>
        <a:p>
          <a:endParaRPr lang="en-US"/>
        </a:p>
      </dgm:t>
    </dgm:pt>
    <dgm:pt modelId="{7CD0EE14-6522-4C21-AB8E-2EE791ADF530}" type="pres">
      <dgm:prSet presAssocID="{21118C84-EF6B-452E-9515-96C466A62359}" presName="linear" presStyleCnt="0">
        <dgm:presLayoutVars>
          <dgm:animLvl val="lvl"/>
          <dgm:resizeHandles val="exact"/>
        </dgm:presLayoutVars>
      </dgm:prSet>
      <dgm:spPr/>
    </dgm:pt>
    <dgm:pt modelId="{147272FE-C1A5-452F-B847-9639EF471B46}" type="pres">
      <dgm:prSet presAssocID="{AEE433A4-BD70-4255-8AEF-D02A88A21174}" presName="parentText" presStyleLbl="node1" presStyleIdx="0" presStyleCnt="1">
        <dgm:presLayoutVars>
          <dgm:chMax val="0"/>
          <dgm:bulletEnabled val="1"/>
        </dgm:presLayoutVars>
      </dgm:prSet>
      <dgm:spPr/>
    </dgm:pt>
    <dgm:pt modelId="{BD645B1B-6DA0-43B6-9B41-250CEBE9B356}" type="pres">
      <dgm:prSet presAssocID="{AEE433A4-BD70-4255-8AEF-D02A88A21174}" presName="childText" presStyleLbl="revTx" presStyleIdx="0" presStyleCnt="1">
        <dgm:presLayoutVars>
          <dgm:bulletEnabled val="1"/>
        </dgm:presLayoutVars>
      </dgm:prSet>
      <dgm:spPr/>
    </dgm:pt>
  </dgm:ptLst>
  <dgm:cxnLst>
    <dgm:cxn modelId="{62F12F11-A9AF-4BD4-B480-BA4CFCEF509A}" srcId="{AEE433A4-BD70-4255-8AEF-D02A88A21174}" destId="{ABF2457D-CA6C-4BB1-92EC-62D0C6913638}" srcOrd="2" destOrd="0" parTransId="{6168107A-994A-41E2-8347-767C447F785A}" sibTransId="{FC44FD74-55B2-4EEB-A0F7-8F0B2FCE46EF}"/>
    <dgm:cxn modelId="{EE019C23-4925-4808-A0B8-87CDC64AF822}" srcId="{AEE433A4-BD70-4255-8AEF-D02A88A21174}" destId="{FF1BC529-2089-4527-91A2-E985286CF2B9}" srcOrd="1" destOrd="0" parTransId="{097D6210-4DFA-4719-BF41-44C6CAA69776}" sibTransId="{748DF6B0-10A8-4701-A193-CE8D7AB32C95}"/>
    <dgm:cxn modelId="{BF9E4E31-8F63-475B-8938-64353BCEBF73}" type="presOf" srcId="{B64FF718-7D74-4704-87CF-AECAB2241385}" destId="{BD645B1B-6DA0-43B6-9B41-250CEBE9B356}" srcOrd="0" destOrd="0" presId="urn:microsoft.com/office/officeart/2005/8/layout/vList2"/>
    <dgm:cxn modelId="{B94F8260-A993-4D16-9E3C-A5EB3B2BAD69}" type="presOf" srcId="{21118C84-EF6B-452E-9515-96C466A62359}" destId="{7CD0EE14-6522-4C21-AB8E-2EE791ADF530}" srcOrd="0" destOrd="0" presId="urn:microsoft.com/office/officeart/2005/8/layout/vList2"/>
    <dgm:cxn modelId="{C5FF0277-A6D0-4717-B3EF-5D81451F638C}" srcId="{21118C84-EF6B-452E-9515-96C466A62359}" destId="{AEE433A4-BD70-4255-8AEF-D02A88A21174}" srcOrd="0" destOrd="0" parTransId="{C6E80AE8-5423-4281-A92B-E972223FCC1F}" sibTransId="{4E2846C2-2FA8-462C-942C-39773FCF6C2D}"/>
    <dgm:cxn modelId="{99B03AB6-47A6-48AD-82DC-F4F85E1D3043}" type="presOf" srcId="{FF1BC529-2089-4527-91A2-E985286CF2B9}" destId="{BD645B1B-6DA0-43B6-9B41-250CEBE9B356}" srcOrd="0" destOrd="1" presId="urn:microsoft.com/office/officeart/2005/8/layout/vList2"/>
    <dgm:cxn modelId="{7390BEC6-B998-4D97-9FC9-A72F46590912}" type="presOf" srcId="{AEE433A4-BD70-4255-8AEF-D02A88A21174}" destId="{147272FE-C1A5-452F-B847-9639EF471B46}" srcOrd="0" destOrd="0" presId="urn:microsoft.com/office/officeart/2005/8/layout/vList2"/>
    <dgm:cxn modelId="{A30BAACE-F2A0-4B46-8055-0E7B7012B6FE}" srcId="{AEE433A4-BD70-4255-8AEF-D02A88A21174}" destId="{B64FF718-7D74-4704-87CF-AECAB2241385}" srcOrd="0" destOrd="0" parTransId="{797A70DA-7C5A-4A3C-9255-936601602F16}" sibTransId="{46515E61-0EF6-4283-A18D-C087DC3CC634}"/>
    <dgm:cxn modelId="{D759A1E9-4ECA-43DC-8AD7-EE60A09088AB}" type="presOf" srcId="{ABF2457D-CA6C-4BB1-92EC-62D0C6913638}" destId="{BD645B1B-6DA0-43B6-9B41-250CEBE9B356}" srcOrd="0" destOrd="2" presId="urn:microsoft.com/office/officeart/2005/8/layout/vList2"/>
    <dgm:cxn modelId="{D1680BE6-8931-4C3C-9A72-AF71678BA5EB}" type="presParOf" srcId="{7CD0EE14-6522-4C21-AB8E-2EE791ADF530}" destId="{147272FE-C1A5-452F-B847-9639EF471B46}" srcOrd="0" destOrd="0" presId="urn:microsoft.com/office/officeart/2005/8/layout/vList2"/>
    <dgm:cxn modelId="{4B6A082F-1A71-49BB-ABD4-25EEC3F848EA}" type="presParOf" srcId="{7CD0EE14-6522-4C21-AB8E-2EE791ADF530}" destId="{BD645B1B-6DA0-43B6-9B41-250CEBE9B35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DCD2D-DC72-4FAC-A0DF-DA8C5974417F}">
      <dsp:nvSpPr>
        <dsp:cNvPr id="0" name=""/>
        <dsp:cNvSpPr/>
      </dsp:nvSpPr>
      <dsp:spPr>
        <a:xfrm>
          <a:off x="0" y="531"/>
          <a:ext cx="10515600" cy="1243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04D588-2F80-4095-BE3A-A088D518FA51}">
      <dsp:nvSpPr>
        <dsp:cNvPr id="0" name=""/>
        <dsp:cNvSpPr/>
      </dsp:nvSpPr>
      <dsp:spPr>
        <a:xfrm>
          <a:off x="376092" y="280269"/>
          <a:ext cx="683804" cy="6838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D48126-A083-4DF3-8A9D-BB64A06EF12C}">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889000">
            <a:lnSpc>
              <a:spcPct val="100000"/>
            </a:lnSpc>
            <a:spcBef>
              <a:spcPct val="0"/>
            </a:spcBef>
            <a:spcAft>
              <a:spcPct val="35000"/>
            </a:spcAft>
            <a:buNone/>
          </a:pPr>
          <a:r>
            <a:rPr lang="en-US" sz="2000" b="1" kern="1200" dirty="0"/>
            <a:t>The Container Solution (OS-Level Virtualization)</a:t>
          </a:r>
          <a:endParaRPr lang="en-US" sz="2000" kern="1200" dirty="0"/>
        </a:p>
      </dsp:txBody>
      <dsp:txXfrm>
        <a:off x="1435988" y="531"/>
        <a:ext cx="9079611" cy="1243280"/>
      </dsp:txXfrm>
    </dsp:sp>
    <dsp:sp modelId="{458228B9-C860-4645-8060-F27D8119B21F}">
      <dsp:nvSpPr>
        <dsp:cNvPr id="0" name=""/>
        <dsp:cNvSpPr/>
      </dsp:nvSpPr>
      <dsp:spPr>
        <a:xfrm>
          <a:off x="0" y="1554631"/>
          <a:ext cx="10515600" cy="1243280"/>
        </a:xfrm>
        <a:prstGeom prst="roundRect">
          <a:avLst>
            <a:gd name="adj" fmla="val 10000"/>
          </a:avLst>
        </a:prstGeom>
        <a:solidFill>
          <a:schemeClr val="accent2">
            <a:hueOff val="3221807"/>
            <a:satOff val="-9246"/>
            <a:lumOff val="-14805"/>
            <a:alphaOff val="0"/>
          </a:schemeClr>
        </a:solidFill>
        <a:ln>
          <a:noFill/>
        </a:ln>
        <a:effectLst/>
      </dsp:spPr>
      <dsp:style>
        <a:lnRef idx="0">
          <a:scrgbClr r="0" g="0" b="0"/>
        </a:lnRef>
        <a:fillRef idx="1">
          <a:scrgbClr r="0" g="0" b="0"/>
        </a:fillRef>
        <a:effectRef idx="0">
          <a:scrgbClr r="0" g="0" b="0"/>
        </a:effectRef>
        <a:fontRef idx="minor"/>
      </dsp:style>
    </dsp:sp>
    <dsp:sp modelId="{40EB4291-4921-48AC-8B30-5E5AF3DA0248}">
      <dsp:nvSpPr>
        <dsp:cNvPr id="0" name=""/>
        <dsp:cNvSpPr/>
      </dsp:nvSpPr>
      <dsp:spPr>
        <a:xfrm>
          <a:off x="376092" y="1834369"/>
          <a:ext cx="683804" cy="6838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340565-A653-4AC2-A093-DCB72FEAA9EE}">
      <dsp:nvSpPr>
        <dsp:cNvPr id="0" name=""/>
        <dsp:cNvSpPr/>
      </dsp:nvSpPr>
      <dsp:spPr>
        <a:xfrm>
          <a:off x="1435988" y="15546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889000">
            <a:lnSpc>
              <a:spcPct val="100000"/>
            </a:lnSpc>
            <a:spcBef>
              <a:spcPct val="0"/>
            </a:spcBef>
            <a:spcAft>
              <a:spcPct val="35000"/>
            </a:spcAft>
            <a:buNone/>
          </a:pPr>
          <a:r>
            <a:rPr lang="en-US" sz="2000" kern="1200"/>
            <a:t>Containers solve the resource duplication problem by abandoning hardware virtualization. Instead, they virtualize the Operating System itself.</a:t>
          </a:r>
        </a:p>
      </dsp:txBody>
      <dsp:txXfrm>
        <a:off x="1435988" y="1554631"/>
        <a:ext cx="9079611" cy="1243280"/>
      </dsp:txXfrm>
    </dsp:sp>
    <dsp:sp modelId="{38BAC0D8-D1CB-4883-BB22-9EDE935214D6}">
      <dsp:nvSpPr>
        <dsp:cNvPr id="0" name=""/>
        <dsp:cNvSpPr/>
      </dsp:nvSpPr>
      <dsp:spPr>
        <a:xfrm>
          <a:off x="0" y="3108732"/>
          <a:ext cx="10515600" cy="1243280"/>
        </a:xfrm>
        <a:prstGeom prst="roundRect">
          <a:avLst>
            <a:gd name="adj" fmla="val 10000"/>
          </a:avLst>
        </a:prstGeom>
        <a:solidFill>
          <a:schemeClr val="accent2">
            <a:hueOff val="6443614"/>
            <a:satOff val="-18493"/>
            <a:lumOff val="-29609"/>
            <a:alphaOff val="0"/>
          </a:schemeClr>
        </a:solidFill>
        <a:ln>
          <a:noFill/>
        </a:ln>
        <a:effectLst/>
      </dsp:spPr>
      <dsp:style>
        <a:lnRef idx="0">
          <a:scrgbClr r="0" g="0" b="0"/>
        </a:lnRef>
        <a:fillRef idx="1">
          <a:scrgbClr r="0" g="0" b="0"/>
        </a:fillRef>
        <a:effectRef idx="0">
          <a:scrgbClr r="0" g="0" b="0"/>
        </a:effectRef>
        <a:fontRef idx="minor"/>
      </dsp:style>
    </dsp:sp>
    <dsp:sp modelId="{FE112065-A8CC-4338-B22E-5E9625CF189B}">
      <dsp:nvSpPr>
        <dsp:cNvPr id="0" name=""/>
        <dsp:cNvSpPr/>
      </dsp:nvSpPr>
      <dsp:spPr>
        <a:xfrm>
          <a:off x="376092" y="3388470"/>
          <a:ext cx="683804" cy="6838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18FB37-D33F-4620-883A-73276850BCD1}">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889000">
            <a:lnSpc>
              <a:spcPct val="100000"/>
            </a:lnSpc>
            <a:spcBef>
              <a:spcPct val="0"/>
            </a:spcBef>
            <a:spcAft>
              <a:spcPct val="35000"/>
            </a:spcAft>
            <a:buNone/>
          </a:pPr>
          <a:r>
            <a:rPr lang="en-US" sz="2000" kern="1200"/>
            <a:t>A container packages only the application code, its runtime, system tools, and required libraries. It does not contain an OS kernel. Instead, all containers running on a machine share the single underlying Host OS kernel directly.</a:t>
          </a:r>
        </a:p>
      </dsp:txBody>
      <dsp:txXfrm>
        <a:off x="1435988" y="3108732"/>
        <a:ext cx="9079611" cy="1243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7F8CAA-FD58-44F6-B8DA-F11640E8A137}">
      <dsp:nvSpPr>
        <dsp:cNvPr id="0" name=""/>
        <dsp:cNvSpPr/>
      </dsp:nvSpPr>
      <dsp:spPr>
        <a:xfrm>
          <a:off x="421398"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74BED7-9CC4-46FE-9450-D9C16DCB8843}">
      <dsp:nvSpPr>
        <dsp:cNvPr id="0" name=""/>
        <dsp:cNvSpPr/>
      </dsp:nvSpPr>
      <dsp:spPr>
        <a:xfrm>
          <a:off x="841"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dirty="0"/>
            <a:t>Process ID (</a:t>
          </a:r>
          <a:r>
            <a:rPr lang="en-US" sz="1100" b="1" i="0" kern="1200" baseline="0" dirty="0" err="1"/>
            <a:t>pid</a:t>
          </a:r>
          <a:r>
            <a:rPr lang="en-US" sz="1100" b="1" i="0" kern="1200" baseline="0" dirty="0"/>
            <a:t>):</a:t>
          </a:r>
          <a:r>
            <a:rPr lang="en-US" sz="1100" b="0" i="0" kern="1200" baseline="0" dirty="0"/>
            <a:t> Provides an independent branching of process IDs. Inside the container, the main application runs as PID 1, completely unaware of the thousands of processes running on the host.</a:t>
          </a:r>
          <a:endParaRPr lang="en-US" sz="1100" kern="1200" dirty="0"/>
        </a:p>
      </dsp:txBody>
      <dsp:txXfrm>
        <a:off x="841" y="2040396"/>
        <a:ext cx="1529296" cy="1311849"/>
      </dsp:txXfrm>
    </dsp:sp>
    <dsp:sp modelId="{445DD709-2EC9-4B16-8793-C4CF72E38AEA}">
      <dsp:nvSpPr>
        <dsp:cNvPr id="0" name=""/>
        <dsp:cNvSpPr/>
      </dsp:nvSpPr>
      <dsp:spPr>
        <a:xfrm>
          <a:off x="2218322"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E5B512-5342-4E58-9E01-31448C0D2E3A}">
      <dsp:nvSpPr>
        <dsp:cNvPr id="0" name=""/>
        <dsp:cNvSpPr/>
      </dsp:nvSpPr>
      <dsp:spPr>
        <a:xfrm>
          <a:off x="1797765"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Network (net):</a:t>
          </a:r>
          <a:r>
            <a:rPr lang="en-US" sz="1100" b="0" i="0" kern="1200" baseline="0"/>
            <a:t> Virtualizes the network stack, providing the container with its own private IP addresses, routing tables, and port ranges.</a:t>
          </a:r>
          <a:endParaRPr lang="en-US" sz="1100" kern="1200"/>
        </a:p>
      </dsp:txBody>
      <dsp:txXfrm>
        <a:off x="1797765" y="2040396"/>
        <a:ext cx="1529296" cy="1311849"/>
      </dsp:txXfrm>
    </dsp:sp>
    <dsp:sp modelId="{22572602-857E-4F64-A267-81BAF4120A55}">
      <dsp:nvSpPr>
        <dsp:cNvPr id="0" name=""/>
        <dsp:cNvSpPr/>
      </dsp:nvSpPr>
      <dsp:spPr>
        <a:xfrm>
          <a:off x="4015246"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C33149-BA26-4ED8-A15E-558E190D6D4F}">
      <dsp:nvSpPr>
        <dsp:cNvPr id="0" name=""/>
        <dsp:cNvSpPr/>
      </dsp:nvSpPr>
      <dsp:spPr>
        <a:xfrm>
          <a:off x="3594689"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Interprocess Communication (ipc):</a:t>
          </a:r>
          <a:r>
            <a:rPr lang="en-US" sz="1100" b="0" i="0" kern="1200" baseline="0"/>
            <a:t> Prevents processes in different containers from accessing each other’s shared memory or message queues.</a:t>
          </a:r>
          <a:endParaRPr lang="en-US" sz="1100" kern="1200"/>
        </a:p>
      </dsp:txBody>
      <dsp:txXfrm>
        <a:off x="3594689" y="2040396"/>
        <a:ext cx="1529296" cy="1311849"/>
      </dsp:txXfrm>
    </dsp:sp>
    <dsp:sp modelId="{728BE1D8-46C8-45F9-873E-8B58D8801AC8}">
      <dsp:nvSpPr>
        <dsp:cNvPr id="0" name=""/>
        <dsp:cNvSpPr/>
      </dsp:nvSpPr>
      <dsp:spPr>
        <a:xfrm>
          <a:off x="5812170"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DFBF03-5F42-4037-9F09-CBB1356B1F06}">
      <dsp:nvSpPr>
        <dsp:cNvPr id="0" name=""/>
        <dsp:cNvSpPr/>
      </dsp:nvSpPr>
      <dsp:spPr>
        <a:xfrm>
          <a:off x="5391613"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Hostname (uts):</a:t>
          </a:r>
          <a:r>
            <a:rPr lang="en-US" sz="1100" b="0" i="0" kern="1200" baseline="0"/>
            <a:t> Allows the container to have its own unique hostname and domain name, separate from the host system.</a:t>
          </a:r>
          <a:endParaRPr lang="en-US" sz="1100" kern="1200"/>
        </a:p>
      </dsp:txBody>
      <dsp:txXfrm>
        <a:off x="5391613" y="2040396"/>
        <a:ext cx="1529296" cy="1311849"/>
      </dsp:txXfrm>
    </dsp:sp>
    <dsp:sp modelId="{79D18FC5-4674-469E-8342-867E493F5D11}">
      <dsp:nvSpPr>
        <dsp:cNvPr id="0" name=""/>
        <dsp:cNvSpPr/>
      </dsp:nvSpPr>
      <dsp:spPr>
        <a:xfrm>
          <a:off x="7609093"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8BA917-268D-4C79-9A3C-3BCC8B4BFB2A}">
      <dsp:nvSpPr>
        <dsp:cNvPr id="0" name=""/>
        <dsp:cNvSpPr/>
      </dsp:nvSpPr>
      <dsp:spPr>
        <a:xfrm>
          <a:off x="7188537"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User (user):</a:t>
          </a:r>
          <a:r>
            <a:rPr lang="en-US" sz="1100" b="0" i="0" kern="1200" baseline="0"/>
            <a:t> Maps user and group IDs inside the container to different IDs on the host, allowing a process to have "root" privileges inside the container while being a "non-privileged" user on the host.</a:t>
          </a:r>
          <a:endParaRPr lang="en-US" sz="1100" kern="1200"/>
        </a:p>
      </dsp:txBody>
      <dsp:txXfrm>
        <a:off x="7188537" y="2040396"/>
        <a:ext cx="1529296" cy="1311849"/>
      </dsp:txXfrm>
    </dsp:sp>
    <dsp:sp modelId="{64BEDB7D-71D9-4A38-B022-2C825F1ECEC1}">
      <dsp:nvSpPr>
        <dsp:cNvPr id="0" name=""/>
        <dsp:cNvSpPr/>
      </dsp:nvSpPr>
      <dsp:spPr>
        <a:xfrm>
          <a:off x="9406017" y="999091"/>
          <a:ext cx="688183" cy="6881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1680C6-21F1-41C3-9962-268D4800942A}">
      <dsp:nvSpPr>
        <dsp:cNvPr id="0" name=""/>
        <dsp:cNvSpPr/>
      </dsp:nvSpPr>
      <dsp:spPr>
        <a:xfrm>
          <a:off x="8985461" y="2040396"/>
          <a:ext cx="1529296" cy="1311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Mount (mnt):</a:t>
          </a:r>
          <a:r>
            <a:rPr lang="en-US" sz="1100" kern="1200"/>
            <a:t> This isolates the set of file system mount points seen by a group of processes. It allows a container to have its own root directory (/) and mount/unmount filesystems without affecting the host or other containers.</a:t>
          </a:r>
        </a:p>
      </dsp:txBody>
      <dsp:txXfrm>
        <a:off x="8985461" y="2040396"/>
        <a:ext cx="1529296" cy="13118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5148A-9EBF-4CA3-8EB3-ACFBE8E30D65}">
      <dsp:nvSpPr>
        <dsp:cNvPr id="0" name=""/>
        <dsp:cNvSpPr/>
      </dsp:nvSpPr>
      <dsp:spPr>
        <a:xfrm>
          <a:off x="0" y="0"/>
          <a:ext cx="9288654" cy="125784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How are Images </a:t>
          </a:r>
          <a:r>
            <a:rPr lang="en-US" sz="1800" kern="1200" dirty="0" err="1"/>
            <a:t>formed:When</a:t>
          </a:r>
          <a:r>
            <a:rPr lang="en-US" sz="1800" kern="1200" dirty="0"/>
            <a:t> you build an image (typically via a </a:t>
          </a:r>
          <a:r>
            <a:rPr lang="en-US" sz="1800" kern="1200" dirty="0" err="1"/>
            <a:t>Dockerfile</a:t>
          </a:r>
          <a:r>
            <a:rPr lang="en-US" sz="1800" kern="1200" dirty="0"/>
            <a:t>), each instruction creates a new layer.</a:t>
          </a:r>
        </a:p>
      </dsp:txBody>
      <dsp:txXfrm>
        <a:off x="36841" y="36841"/>
        <a:ext cx="7931345" cy="1184159"/>
      </dsp:txXfrm>
    </dsp:sp>
    <dsp:sp modelId="{19C91329-9CEF-4A96-B007-2644D6B408AD}">
      <dsp:nvSpPr>
        <dsp:cNvPr id="0" name=""/>
        <dsp:cNvSpPr/>
      </dsp:nvSpPr>
      <dsp:spPr>
        <a:xfrm>
          <a:off x="819587" y="1467481"/>
          <a:ext cx="9288654" cy="125784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Layering:</a:t>
          </a:r>
          <a:r>
            <a:rPr lang="en-US" sz="1800" kern="1200"/>
            <a:t> If your Dockerfile has a FROM ubuntu line, followed by RUN apt-get install python, and then COPY app.py, you have three distinct layers.</a:t>
          </a:r>
          <a:br>
            <a:rPr lang="en-US" sz="1800" kern="1200"/>
          </a:br>
          <a:endParaRPr lang="en-US" sz="1800" kern="1200"/>
        </a:p>
      </dsp:txBody>
      <dsp:txXfrm>
        <a:off x="856428" y="1504322"/>
        <a:ext cx="7577788" cy="1184159"/>
      </dsp:txXfrm>
    </dsp:sp>
    <dsp:sp modelId="{B7309A61-6FCE-4420-943F-F11A39ED9A02}">
      <dsp:nvSpPr>
        <dsp:cNvPr id="0" name=""/>
        <dsp:cNvSpPr/>
      </dsp:nvSpPr>
      <dsp:spPr>
        <a:xfrm>
          <a:off x="1639174" y="2934963"/>
          <a:ext cx="9288654" cy="12578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Copy-on-Write (CoW) Strategy:</a:t>
          </a:r>
          <a:r>
            <a:rPr lang="en-US" sz="1800" kern="1200"/>
            <a:t> This is the core logic. When a layer needs to modify a file from a previous layer, it copies the file to the new layer and applies the changes there. The original file remains unchanged in the underlying layer.</a:t>
          </a:r>
        </a:p>
      </dsp:txBody>
      <dsp:txXfrm>
        <a:off x="1676015" y="2971804"/>
        <a:ext cx="7577788" cy="1184159"/>
      </dsp:txXfrm>
    </dsp:sp>
    <dsp:sp modelId="{3EF96425-512A-4EE6-B413-49F00EF53F17}">
      <dsp:nvSpPr>
        <dsp:cNvPr id="0" name=""/>
        <dsp:cNvSpPr/>
      </dsp:nvSpPr>
      <dsp:spPr>
        <a:xfrm>
          <a:off x="8471057" y="953863"/>
          <a:ext cx="817596" cy="817596"/>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655016" y="953863"/>
        <a:ext cx="449678" cy="615241"/>
      </dsp:txXfrm>
    </dsp:sp>
    <dsp:sp modelId="{EB4427B7-0FD8-4A48-8756-69E7FB3937B3}">
      <dsp:nvSpPr>
        <dsp:cNvPr id="0" name=""/>
        <dsp:cNvSpPr/>
      </dsp:nvSpPr>
      <dsp:spPr>
        <a:xfrm>
          <a:off x="9290644" y="2412959"/>
          <a:ext cx="817596" cy="817596"/>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474603" y="2412959"/>
        <a:ext cx="449678" cy="6152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7272FE-C1A5-452F-B847-9639EF471B46}">
      <dsp:nvSpPr>
        <dsp:cNvPr id="0" name=""/>
        <dsp:cNvSpPr/>
      </dsp:nvSpPr>
      <dsp:spPr>
        <a:xfrm>
          <a:off x="0" y="42669"/>
          <a:ext cx="5393361"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Container vs. Image Transfer</a:t>
          </a:r>
        </a:p>
      </dsp:txBody>
      <dsp:txXfrm>
        <a:off x="28786" y="71455"/>
        <a:ext cx="5335789" cy="532107"/>
      </dsp:txXfrm>
    </dsp:sp>
    <dsp:sp modelId="{BD645B1B-6DA0-43B6-9B41-250CEBE9B356}">
      <dsp:nvSpPr>
        <dsp:cNvPr id="0" name=""/>
        <dsp:cNvSpPr/>
      </dsp:nvSpPr>
      <dsp:spPr>
        <a:xfrm>
          <a:off x="0" y="632349"/>
          <a:ext cx="5393361" cy="367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239"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1" kern="1200" dirty="0"/>
            <a:t>What you actually transfer: </a:t>
          </a:r>
          <a:r>
            <a:rPr lang="en-US" sz="1900" kern="1200" dirty="0"/>
            <a:t>You transfer the Image, not the "Container.“</a:t>
          </a:r>
        </a:p>
        <a:p>
          <a:pPr marL="171450" lvl="1" indent="-171450" algn="l" defTabSz="844550">
            <a:lnSpc>
              <a:spcPct val="90000"/>
            </a:lnSpc>
            <a:spcBef>
              <a:spcPct val="0"/>
            </a:spcBef>
            <a:spcAft>
              <a:spcPct val="20000"/>
            </a:spcAft>
            <a:buChar char="•"/>
          </a:pPr>
          <a:r>
            <a:rPr lang="en-US" sz="1900" b="1" kern="1200" dirty="0"/>
            <a:t>The Difference: </a:t>
          </a:r>
          <a:r>
            <a:rPr lang="en-US" sz="1900" kern="1200" dirty="0"/>
            <a:t>A container is a running instance of an image. It consists of the read- only image layers plus a thin, "writable layer" on top.</a:t>
          </a:r>
        </a:p>
        <a:p>
          <a:pPr marL="171450" lvl="1" indent="-171450" algn="l" defTabSz="844550">
            <a:lnSpc>
              <a:spcPct val="90000"/>
            </a:lnSpc>
            <a:spcBef>
              <a:spcPct val="0"/>
            </a:spcBef>
            <a:spcAft>
              <a:spcPct val="20000"/>
            </a:spcAft>
            <a:buChar char="•"/>
          </a:pPr>
          <a:r>
            <a:rPr lang="en-US" sz="1900" b="1" kern="1200" dirty="0"/>
            <a:t>In Practice</a:t>
          </a:r>
          <a:r>
            <a:rPr lang="en-US" sz="1900" kern="1200" dirty="0"/>
            <a:t>: When you want to move your application, you push the image to a registry (like Docker Hub) and pull it elsewhere. If you have a running container with data written to its writable layer, that data is not included in the image transfer unless you explicitly </a:t>
          </a:r>
          <a:r>
            <a:rPr lang="en-US" sz="1900" kern="1200" dirty="0">
              <a:solidFill>
                <a:srgbClr val="FFFF00"/>
              </a:solidFill>
            </a:rPr>
            <a:t>commit</a:t>
          </a:r>
          <a:r>
            <a:rPr lang="en-US" sz="1900" kern="1200" dirty="0"/>
            <a:t> that container into a new image.</a:t>
          </a:r>
        </a:p>
      </dsp:txBody>
      <dsp:txXfrm>
        <a:off x="0" y="632349"/>
        <a:ext cx="5393361" cy="36763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0DC853-9A79-4839-9239-C71127903A4B}"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E47CBB-BC9C-493B-8D3F-C9144A962E66}" type="slidenum">
              <a:rPr lang="en-US" smtClean="0"/>
              <a:t>‹#›</a:t>
            </a:fld>
            <a:endParaRPr lang="en-US"/>
          </a:p>
        </p:txBody>
      </p:sp>
    </p:spTree>
    <p:extLst>
      <p:ext uri="{BB962C8B-B14F-4D97-AF65-F5344CB8AC3E}">
        <p14:creationId xmlns:p14="http://schemas.microsoft.com/office/powerpoint/2010/main" val="2249662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E47CBB-BC9C-493B-8D3F-C9144A962E66}" type="slidenum">
              <a:rPr lang="en-US" smtClean="0"/>
              <a:t>21</a:t>
            </a:fld>
            <a:endParaRPr lang="en-US"/>
          </a:p>
        </p:txBody>
      </p:sp>
    </p:spTree>
    <p:extLst>
      <p:ext uri="{BB962C8B-B14F-4D97-AF65-F5344CB8AC3E}">
        <p14:creationId xmlns:p14="http://schemas.microsoft.com/office/powerpoint/2010/main" val="18845256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91651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617314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00668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778580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66536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728997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212220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668134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04807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58831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432134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98E57B1-7390-434E-B823-2F386E6FD4B8}"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1116386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860660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719994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79742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708777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42242387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8984192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0055022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137521205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553813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0441323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0162634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2803741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4872241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413047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2674693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874118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3069130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0621528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23818352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5805315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869385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738874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5695153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11863595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8324441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637743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42687965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5630837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1392927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3487384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7769942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5592396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1178722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6264470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587583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988153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0397924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3200911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5E1E-2938-350F-79C5-0B17925650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FE8609-1E98-E774-A0FC-7BE6E431AC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9748A0-5452-CC2E-D252-9E56ED6E7A7F}"/>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AB49CAD0-BEFC-1B34-23AE-0E9B5B21D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0124AE-B7E3-7B28-143C-FE882C7FED8B}"/>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6981712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D2C4-1723-3EE5-861C-51F52D54C8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169E4C-4244-9A14-425B-2EBDDEF446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9FA1EF-8E90-809B-A6B2-53EC2138DFEB}"/>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73AA2E0E-177D-79E6-152E-C1D30E5F9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ABBB4-FB3D-C7FB-7690-851C93757F8F}"/>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0947427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C167A-A057-FF26-3DC2-CAA8808C42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CB5B0A-D872-BD6E-E7F2-500AA0691E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14390-7175-B62A-E801-1572A62C275F}"/>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2A50D3B1-8DFD-FE26-DD12-D10AF1DCE0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380198-EFE2-84E9-7A3D-C09E64190E43}"/>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8456760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B6687-2C18-9E86-344E-DD9EC0D310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9C7655-2ECA-3603-732E-1470982152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B36A00-9368-40BF-C3E6-6DD7E52155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C926EE-B569-DBF5-BC0F-BDE87031B2E9}"/>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a:extLst>
              <a:ext uri="{FF2B5EF4-FFF2-40B4-BE49-F238E27FC236}">
                <a16:creationId xmlns:a16="http://schemas.microsoft.com/office/drawing/2014/main" id="{1D5A53A8-206C-58DC-7F86-ABA7DC0F59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0B265-34BC-2773-B6BA-9A0CFBAD0591}"/>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13363690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AFA07-5A8E-4594-4F3B-66EC30885D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A34D0F-BEDD-35DF-907A-6F713EFA12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29A7E8-B050-B6AC-4857-5044DF7FF8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1CC82B-8E45-8F4E-A16C-037DB0742E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A87171-79EF-3970-E726-70526D1600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919C88-7BF9-F142-7BC3-CEBDD6E528DD}"/>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a:extLst>
              <a:ext uri="{FF2B5EF4-FFF2-40B4-BE49-F238E27FC236}">
                <a16:creationId xmlns:a16="http://schemas.microsoft.com/office/drawing/2014/main" id="{27406FC8-44D4-5554-7142-07FED8CE16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CA6536-EFA3-0FEF-3A6A-5FED1926255B}"/>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5041216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0205-A8BE-C713-7966-3F09F18AB4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A1891A-2846-ECD9-A92B-E2631247EC00}"/>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a:extLst>
              <a:ext uri="{FF2B5EF4-FFF2-40B4-BE49-F238E27FC236}">
                <a16:creationId xmlns:a16="http://schemas.microsoft.com/office/drawing/2014/main" id="{82BDFF21-08BE-BC21-9A0D-D7F9B9FEA3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356628-BFBE-56CC-F2C2-607CF215BFCE}"/>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5801816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20A0DB-0B18-C039-4C92-52104D3905B0}"/>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a:extLst>
              <a:ext uri="{FF2B5EF4-FFF2-40B4-BE49-F238E27FC236}">
                <a16:creationId xmlns:a16="http://schemas.microsoft.com/office/drawing/2014/main" id="{ADFC1D71-5588-3D50-8F4D-A284951D0E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7AEFCC-4919-3F51-FB2D-2ECA81CD7029}"/>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85681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2974F-BD52-AA63-275D-3B713933A0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2C6658-BC5C-48B1-0034-1E93AB45D3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D88040-DBB5-365F-81BF-E3B6102AD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4A529-7244-12DF-73EA-2EF081646A7B}"/>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a:extLst>
              <a:ext uri="{FF2B5EF4-FFF2-40B4-BE49-F238E27FC236}">
                <a16:creationId xmlns:a16="http://schemas.microsoft.com/office/drawing/2014/main" id="{08139577-1B3E-8F55-57D6-263AB3530E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61B465-24B0-5377-B377-DE9E2445FCF1}"/>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626539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CAB6-E697-8540-4147-1D24919C1B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605172-00CB-A4F1-7743-7218E041DC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8F2EAC-C7BE-C489-C610-C08F604F0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ECBC25-61B6-7C2D-F8E2-C1075A9964D6}"/>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a:extLst>
              <a:ext uri="{FF2B5EF4-FFF2-40B4-BE49-F238E27FC236}">
                <a16:creationId xmlns:a16="http://schemas.microsoft.com/office/drawing/2014/main" id="{98184518-FBB3-E52F-D434-509070A211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C001D2-CE63-3ECA-16D0-AE88921B4A19}"/>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13288269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FA3A-FB00-FC36-6FD1-9D4B874BA9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156CAA-9FF4-8628-AC85-45096CC070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3F4434-5162-8DC4-DB01-FE8794F15313}"/>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7913629F-00D5-48A7-5184-6E21152B4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06172A-CE8F-64E1-01B6-2594F378900C}"/>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0447139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3C2B35-9914-2253-EAA7-C00B49001E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D7EE8D-D5E2-629B-9B40-A1652DA50F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E0D5D-66A0-E836-793B-5F2FFC957A4D}"/>
              </a:ext>
            </a:extLst>
          </p:cNvPr>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0796D9FE-CA80-78AB-BE41-8C44CFDA15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ED41C2-FB42-5714-F0F3-3D6FC3D74A31}"/>
              </a:ext>
            </a:extLst>
          </p:cNvPr>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0786335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77711604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6288899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51500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9448022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6944850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3687980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5797764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7692478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480516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99567342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74600326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4662917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75218494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48764856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5426661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51393346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99097346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29595614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80204073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35699428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87304075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5760114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70787068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7604882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77724492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44426175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9355262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8915311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058203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08706564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1254207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41344444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61229586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11816482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B98E57B1-7390-434E-B823-2F386E6FD4B8}"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20631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082389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191628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9745711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645969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407449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62260356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531026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553298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894141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770582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507778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33161002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33990627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237464361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C51D6-4CE4-4B55-9B25-7ACBDA6E8C2A}"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1077472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03707748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9C51D6-4CE4-4B55-9B25-7ACBDA6E8C2A}"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77999919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370506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9C51D6-4CE4-4B55-9B25-7ACBDA6E8C2A}"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163353313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969C51D6-4CE4-4B55-9B25-7ACBDA6E8C2A}"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9577712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68533450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90849574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22624097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04680168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45179686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61785200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9C51D6-4CE4-4B55-9B25-7ACBDA6E8C2A}"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E57B1-7390-434E-B823-2F386E6FD4B8}" type="slidenum">
              <a:rPr lang="en-US" smtClean="0"/>
              <a:t>‹#›</a:t>
            </a:fld>
            <a:endParaRPr lang="en-US"/>
          </a:p>
        </p:txBody>
      </p:sp>
    </p:spTree>
    <p:extLst>
      <p:ext uri="{BB962C8B-B14F-4D97-AF65-F5344CB8AC3E}">
        <p14:creationId xmlns:p14="http://schemas.microsoft.com/office/powerpoint/2010/main" val="3072391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theme" Target="../theme/theme6.xml"/><Relationship Id="rId3" Type="http://schemas.openxmlformats.org/officeDocument/2006/relationships/slideLayout" Target="../slideLayouts/slideLayout64.xml"/><Relationship Id="rId21" Type="http://schemas.openxmlformats.org/officeDocument/2006/relationships/image" Target="../media/image8.png"/><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image" Target="../media/image7.png"/><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19" Type="http://schemas.openxmlformats.org/officeDocument/2006/relationships/image" Target="../media/image6.png"/><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image" Target="../media/image9.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18" Type="http://schemas.openxmlformats.org/officeDocument/2006/relationships/theme" Target="../theme/theme7.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10" Type="http://schemas.openxmlformats.org/officeDocument/2006/relationships/slideLayout" Target="../slideLayouts/slideLayout88.xml"/><Relationship Id="rId19" Type="http://schemas.openxmlformats.org/officeDocument/2006/relationships/image" Target="../media/image5.jpeg"/><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3.xml"/><Relationship Id="rId13" Type="http://schemas.openxmlformats.org/officeDocument/2006/relationships/image" Target="../media/image10.jpg"/><Relationship Id="rId3" Type="http://schemas.openxmlformats.org/officeDocument/2006/relationships/slideLayout" Target="../slideLayouts/slideLayout98.xml"/><Relationship Id="rId7" Type="http://schemas.openxmlformats.org/officeDocument/2006/relationships/slideLayout" Target="../slideLayouts/slideLayout102.xml"/><Relationship Id="rId12" Type="http://schemas.openxmlformats.org/officeDocument/2006/relationships/theme" Target="../theme/theme8.xml"/><Relationship Id="rId2" Type="http://schemas.openxmlformats.org/officeDocument/2006/relationships/slideLayout" Target="../slideLayouts/slideLayout97.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5" Type="http://schemas.openxmlformats.org/officeDocument/2006/relationships/slideLayout" Target="../slideLayouts/slideLayout100.xml"/><Relationship Id="rId10" Type="http://schemas.openxmlformats.org/officeDocument/2006/relationships/slideLayout" Target="../slideLayouts/slideLayout105.xml"/><Relationship Id="rId4" Type="http://schemas.openxmlformats.org/officeDocument/2006/relationships/slideLayout" Target="../slideLayouts/slideLayout99.xml"/><Relationship Id="rId9" Type="http://schemas.openxmlformats.org/officeDocument/2006/relationships/slideLayout" Target="../slideLayouts/slideLayout104.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4.xml"/><Relationship Id="rId13" Type="http://schemas.openxmlformats.org/officeDocument/2006/relationships/slideLayout" Target="../slideLayouts/slideLayout119.xml"/><Relationship Id="rId18" Type="http://schemas.openxmlformats.org/officeDocument/2006/relationships/theme" Target="../theme/theme9.xml"/><Relationship Id="rId3" Type="http://schemas.openxmlformats.org/officeDocument/2006/relationships/slideLayout" Target="../slideLayouts/slideLayout109.xml"/><Relationship Id="rId7" Type="http://schemas.openxmlformats.org/officeDocument/2006/relationships/slideLayout" Target="../slideLayouts/slideLayout113.xml"/><Relationship Id="rId12" Type="http://schemas.openxmlformats.org/officeDocument/2006/relationships/slideLayout" Target="../slideLayouts/slideLayout118.xml"/><Relationship Id="rId17" Type="http://schemas.openxmlformats.org/officeDocument/2006/relationships/slideLayout" Target="../slideLayouts/slideLayout123.xml"/><Relationship Id="rId2" Type="http://schemas.openxmlformats.org/officeDocument/2006/relationships/slideLayout" Target="../slideLayouts/slideLayout108.xml"/><Relationship Id="rId16" Type="http://schemas.openxmlformats.org/officeDocument/2006/relationships/slideLayout" Target="../slideLayouts/slideLayout122.xml"/><Relationship Id="rId1" Type="http://schemas.openxmlformats.org/officeDocument/2006/relationships/slideLayout" Target="../slideLayouts/slideLayout107.xml"/><Relationship Id="rId6" Type="http://schemas.openxmlformats.org/officeDocument/2006/relationships/slideLayout" Target="../slideLayouts/slideLayout112.xml"/><Relationship Id="rId11" Type="http://schemas.openxmlformats.org/officeDocument/2006/relationships/slideLayout" Target="../slideLayouts/slideLayout117.xml"/><Relationship Id="rId5" Type="http://schemas.openxmlformats.org/officeDocument/2006/relationships/slideLayout" Target="../slideLayouts/slideLayout111.xml"/><Relationship Id="rId15" Type="http://schemas.openxmlformats.org/officeDocument/2006/relationships/slideLayout" Target="../slideLayouts/slideLayout121.xml"/><Relationship Id="rId10" Type="http://schemas.openxmlformats.org/officeDocument/2006/relationships/slideLayout" Target="../slideLayouts/slideLayout116.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14" Type="http://schemas.openxmlformats.org/officeDocument/2006/relationships/slideLayout" Target="../slideLayouts/slideLayout1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211337616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15281026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B98E57B1-7390-434E-B823-2F386E6FD4B8}"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7343633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184212923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678B3C-F1AD-77D7-B40E-1DE286207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AE0FC6-150D-6503-706B-889E310D29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C8A81C-E06C-20E7-F536-F7F136944E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9C51D6-4CE4-4B55-9B25-7ACBDA6E8C2A}" type="datetimeFigureOut">
              <a:rPr lang="en-US" smtClean="0"/>
              <a:t>4/8/2026</a:t>
            </a:fld>
            <a:endParaRPr lang="en-US"/>
          </a:p>
        </p:txBody>
      </p:sp>
      <p:sp>
        <p:nvSpPr>
          <p:cNvPr id="5" name="Footer Placeholder 4">
            <a:extLst>
              <a:ext uri="{FF2B5EF4-FFF2-40B4-BE49-F238E27FC236}">
                <a16:creationId xmlns:a16="http://schemas.microsoft.com/office/drawing/2014/main" id="{3DFAE995-A31F-F9D4-D57D-830274237C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56F761-AA56-9C9C-C58E-FA8957F5F0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398722295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506642353"/>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26882886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98E57B1-7390-434E-B823-2F386E6FD4B8}"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788563"/>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969C51D6-4CE4-4B55-9B25-7ACBDA6E8C2A}" type="datetimeFigureOut">
              <a:rPr lang="en-US" smtClean="0"/>
              <a:t>4/8/2026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98E57B1-7390-434E-B823-2F386E6FD4B8}" type="slidenum">
              <a:rPr lang="en-US" smtClean="0"/>
              <a:t>‹#›</a:t>
            </a:fld>
            <a:endParaRPr lang="en-US"/>
          </a:p>
        </p:txBody>
      </p:sp>
    </p:spTree>
    <p:extLst>
      <p:ext uri="{BB962C8B-B14F-4D97-AF65-F5344CB8AC3E}">
        <p14:creationId xmlns:p14="http://schemas.microsoft.com/office/powerpoint/2010/main" val="2212025837"/>
      </p:ext>
    </p:extLst>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5.jpeg"/><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56.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6.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9.svg"/><Relationship Id="rId2" Type="http://schemas.openxmlformats.org/officeDocument/2006/relationships/diagramData" Target="../diagrams/data4.xml"/><Relationship Id="rId1" Type="http://schemas.openxmlformats.org/officeDocument/2006/relationships/slideLayout" Target="../slideLayouts/slideLayout5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rgo shipping containers in a pile and on a semi-truck at a harbor">
            <a:extLst>
              <a:ext uri="{FF2B5EF4-FFF2-40B4-BE49-F238E27FC236}">
                <a16:creationId xmlns:a16="http://schemas.microsoft.com/office/drawing/2014/main" id="{1A281AFE-D55A-A698-3B93-C3A59E9A6847}"/>
              </a:ext>
            </a:extLst>
          </p:cNvPr>
          <p:cNvPicPr>
            <a:picLocks noChangeAspect="1"/>
          </p:cNvPicPr>
          <p:nvPr/>
        </p:nvPicPr>
        <p:blipFill>
          <a:blip r:embed="rId2">
            <a:alphaModFix amt="50000"/>
          </a:blip>
          <a:srcRect t="20160" r="-1" b="4820"/>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8D2B9CBC-5D8B-FFBB-B16A-37A3FDAD0705}"/>
              </a:ext>
            </a:extLst>
          </p:cNvPr>
          <p:cNvSpPr>
            <a:spLocks noGrp="1"/>
          </p:cNvSpPr>
          <p:nvPr>
            <p:ph type="ctrTitle"/>
          </p:nvPr>
        </p:nvSpPr>
        <p:spPr>
          <a:xfrm>
            <a:off x="1524000" y="1122363"/>
            <a:ext cx="9144000" cy="3063240"/>
          </a:xfrm>
        </p:spPr>
        <p:txBody>
          <a:bodyPr>
            <a:normAutofit/>
          </a:bodyPr>
          <a:lstStyle/>
          <a:p>
            <a:r>
              <a:rPr lang="en-US" sz="6600">
                <a:solidFill>
                  <a:schemeClr val="bg1"/>
                </a:solidFill>
              </a:rPr>
              <a:t>Docker internals</a:t>
            </a:r>
          </a:p>
        </p:txBody>
      </p:sp>
      <p:sp>
        <p:nvSpPr>
          <p:cNvPr id="1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01805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A6F50-7494-E9E2-1B2F-F5F272FFAED6}"/>
              </a:ext>
            </a:extLst>
          </p:cNvPr>
          <p:cNvSpPr>
            <a:spLocks noGrp="1"/>
          </p:cNvSpPr>
          <p:nvPr>
            <p:ph type="title"/>
          </p:nvPr>
        </p:nvSpPr>
        <p:spPr>
          <a:xfrm>
            <a:off x="1159933" y="995318"/>
            <a:ext cx="9872134" cy="1193968"/>
          </a:xfrm>
          <a:solidFill>
            <a:srgbClr val="FFFFFF"/>
          </a:solidFill>
          <a:ln w="38100">
            <a:solidFill>
              <a:srgbClr val="7F7F7F"/>
            </a:solidFill>
            <a:miter lim="800000"/>
          </a:ln>
        </p:spPr>
        <p:txBody>
          <a:bodyPr>
            <a:normAutofit/>
          </a:bodyPr>
          <a:lstStyle/>
          <a:p>
            <a:pPr algn="ctr"/>
            <a:r>
              <a:rPr lang="en-US" sz="3600">
                <a:solidFill>
                  <a:srgbClr val="3F3F3F"/>
                </a:solidFill>
              </a:rPr>
              <a:t>Virtual machines vs containers</a:t>
            </a:r>
          </a:p>
        </p:txBody>
      </p:sp>
      <p:sp>
        <p:nvSpPr>
          <p:cNvPr id="3" name="Content Placeholder 2">
            <a:extLst>
              <a:ext uri="{FF2B5EF4-FFF2-40B4-BE49-F238E27FC236}">
                <a16:creationId xmlns:a16="http://schemas.microsoft.com/office/drawing/2014/main" id="{84FCAD8D-A212-0FFB-338D-0873040674D6}"/>
              </a:ext>
            </a:extLst>
          </p:cNvPr>
          <p:cNvSpPr>
            <a:spLocks noGrp="1"/>
          </p:cNvSpPr>
          <p:nvPr>
            <p:ph sz="half" idx="1"/>
          </p:nvPr>
        </p:nvSpPr>
        <p:spPr>
          <a:xfrm>
            <a:off x="1476915" y="2333070"/>
            <a:ext cx="4297351" cy="2959777"/>
          </a:xfrm>
        </p:spPr>
        <p:txBody>
          <a:bodyPr anchor="t">
            <a:noAutofit/>
          </a:bodyPr>
          <a:lstStyle/>
          <a:p>
            <a:r>
              <a:rPr lang="en-US" sz="1800" dirty="0"/>
              <a:t>Virtual machines (VMs) solved the problem of wasted physical hardware by allowing multiple isolated environments to run on a single physical server. However, VMs introduced a new bottleneck: operating system overhead. Containers originated to eliminate this overhead and optimize software delivery.</a:t>
            </a:r>
          </a:p>
          <a:p>
            <a:r>
              <a:rPr lang="en-US" sz="1800" dirty="0"/>
              <a:t>VMs use hypervisors. They are a layer of software (like VMware or VirtualBox) that sits on the physical host and creates/runs VMs. The hypervisor tricks the Guest OS into thinking it has its own dedicated CPU, RAM, and Network Card.</a:t>
            </a:r>
          </a:p>
          <a:p>
            <a:endParaRPr lang="en-US" sz="1800" dirty="0"/>
          </a:p>
        </p:txBody>
      </p:sp>
      <p:sp>
        <p:nvSpPr>
          <p:cNvPr id="4" name="Content Placeholder 3">
            <a:extLst>
              <a:ext uri="{FF2B5EF4-FFF2-40B4-BE49-F238E27FC236}">
                <a16:creationId xmlns:a16="http://schemas.microsoft.com/office/drawing/2014/main" id="{53640F68-063A-8862-9E50-2D2C0B8BE9E8}"/>
              </a:ext>
            </a:extLst>
          </p:cNvPr>
          <p:cNvSpPr>
            <a:spLocks noGrp="1"/>
          </p:cNvSpPr>
          <p:nvPr>
            <p:ph sz="half" idx="2"/>
          </p:nvPr>
        </p:nvSpPr>
        <p:spPr>
          <a:xfrm>
            <a:off x="6417731" y="2278646"/>
            <a:ext cx="4292594" cy="2959778"/>
          </a:xfrm>
        </p:spPr>
        <p:txBody>
          <a:bodyPr anchor="t">
            <a:noAutofit/>
          </a:bodyPr>
          <a:lstStyle/>
          <a:p>
            <a:r>
              <a:rPr lang="en-US" sz="2000" dirty="0"/>
              <a:t>The Guest OS doesn't "know" it doesn't have hardware because it is programmed to interact with </a:t>
            </a:r>
            <a:r>
              <a:rPr lang="en-US" sz="2000" b="1" dirty="0"/>
              <a:t>interfaces</a:t>
            </a:r>
            <a:r>
              <a:rPr lang="en-US" sz="2000" dirty="0"/>
              <a:t>. As long as the Hypervisor provides the expected response to a CPU instruction or a driver request, the Guest OS continues to operate under the illusion that it owns the machine.</a:t>
            </a:r>
          </a:p>
          <a:p>
            <a:r>
              <a:rPr lang="en-US" sz="2000" dirty="0"/>
              <a:t>In Docker, this entire layer of trickery is removed. There is no Guest OS to fool, so there is no need for a hypervisor to intercept instructions, which is why containers have near-native performance.</a:t>
            </a:r>
          </a:p>
          <a:p>
            <a:endParaRPr lang="en-US" sz="2000" dirty="0"/>
          </a:p>
        </p:txBody>
      </p:sp>
    </p:spTree>
    <p:extLst>
      <p:ext uri="{BB962C8B-B14F-4D97-AF65-F5344CB8AC3E}">
        <p14:creationId xmlns:p14="http://schemas.microsoft.com/office/powerpoint/2010/main" val="141182218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12507C-95C1-7242-66D4-244613E688FD}"/>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Problems with VMs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28062D8-E58C-1969-B547-2438E44201FE}"/>
              </a:ext>
            </a:extLst>
          </p:cNvPr>
          <p:cNvSpPr>
            <a:spLocks noGrp="1"/>
          </p:cNvSpPr>
          <p:nvPr>
            <p:ph idx="1"/>
          </p:nvPr>
        </p:nvSpPr>
        <p:spPr>
          <a:xfrm>
            <a:off x="4447308" y="591344"/>
            <a:ext cx="6906491" cy="5585619"/>
          </a:xfrm>
        </p:spPr>
        <p:txBody>
          <a:bodyPr anchor="ctr">
            <a:normAutofit/>
          </a:bodyPr>
          <a:lstStyle/>
          <a:p>
            <a:pPr marL="0" indent="0">
              <a:buNone/>
            </a:pPr>
            <a:r>
              <a:rPr lang="en-US" sz="2000" b="1"/>
              <a:t>The Bottleneck of Virtual Machines (Hypervisor Overhead)</a:t>
            </a:r>
          </a:p>
          <a:p>
            <a:r>
              <a:rPr lang="en-US" sz="2000"/>
              <a:t>VMs rely on a hypervisor to virtualize physical hardware. Because the hardware is virtualized, every VM requires its own complete, independent Guest Operating System (OS).</a:t>
            </a:r>
          </a:p>
          <a:p>
            <a:r>
              <a:rPr lang="en-US" sz="2000" b="1"/>
              <a:t>Resource Bloat:</a:t>
            </a:r>
            <a:r>
              <a:rPr lang="en-US" sz="2000"/>
              <a:t> Running 10 isolated applications on a server using VMs requires running 10 full operating systems. Each OS consumes gigabytes of disk space and reserves significant RAM just to manage its own background system processes, leaving fewer resources for the actual applications.</a:t>
            </a:r>
          </a:p>
          <a:p>
            <a:r>
              <a:rPr lang="en-US" sz="2000" b="1"/>
              <a:t>Slow Boot Times:</a:t>
            </a:r>
            <a:r>
              <a:rPr lang="en-US" sz="2000"/>
              <a:t> Booting a VM means executing a full OS boot sequence. This process takes minutes, making it highly inefficient to rapidly scale application instances up or down in response to real-time traffic spikes.</a:t>
            </a:r>
          </a:p>
          <a:p>
            <a:r>
              <a:rPr lang="en-US" sz="2000" b="1"/>
              <a:t>Portability Friction:</a:t>
            </a:r>
            <a:r>
              <a:rPr lang="en-US" sz="2000"/>
              <a:t> VM images are massive files, often tens of gigabytes in size. Moving them between a developer's laptop, a testing environment, and production servers is slow and bandwidth-intensive.</a:t>
            </a:r>
          </a:p>
          <a:p>
            <a:endParaRPr lang="en-US" sz="2000"/>
          </a:p>
        </p:txBody>
      </p:sp>
    </p:spTree>
    <p:extLst>
      <p:ext uri="{BB962C8B-B14F-4D97-AF65-F5344CB8AC3E}">
        <p14:creationId xmlns:p14="http://schemas.microsoft.com/office/powerpoint/2010/main" val="921373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5038E-63FE-A845-57BC-DE43D89A9A71}"/>
              </a:ext>
            </a:extLst>
          </p:cNvPr>
          <p:cNvSpPr>
            <a:spLocks noGrp="1"/>
          </p:cNvSpPr>
          <p:nvPr>
            <p:ph type="title"/>
          </p:nvPr>
        </p:nvSpPr>
        <p:spPr>
          <a:xfrm>
            <a:off x="838200" y="557188"/>
            <a:ext cx="10515600" cy="1133499"/>
          </a:xfrm>
        </p:spPr>
        <p:txBody>
          <a:bodyPr>
            <a:normAutofit/>
          </a:bodyPr>
          <a:lstStyle/>
          <a:p>
            <a:pPr algn="ctr"/>
            <a:r>
              <a:rPr lang="en-US" sz="5200" dirty="0"/>
              <a:t>The Perks of container</a:t>
            </a:r>
          </a:p>
        </p:txBody>
      </p:sp>
      <p:graphicFrame>
        <p:nvGraphicFramePr>
          <p:cNvPr id="5" name="Content Placeholder 2">
            <a:extLst>
              <a:ext uri="{FF2B5EF4-FFF2-40B4-BE49-F238E27FC236}">
                <a16:creationId xmlns:a16="http://schemas.microsoft.com/office/drawing/2014/main" id="{688674E1-573C-2EFB-312E-12CD971DB57A}"/>
              </a:ext>
            </a:extLst>
          </p:cNvPr>
          <p:cNvGraphicFramePr>
            <a:graphicFrameLocks noGrp="1"/>
          </p:cNvGraphicFramePr>
          <p:nvPr>
            <p:ph idx="1"/>
            <p:extLst>
              <p:ext uri="{D42A27DB-BD31-4B8C-83A1-F6EECF244321}">
                <p14:modId xmlns:p14="http://schemas.microsoft.com/office/powerpoint/2010/main" val="378291371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0108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F9304-2749-22F0-4CD4-F14E323401A9}"/>
              </a:ext>
            </a:extLst>
          </p:cNvPr>
          <p:cNvSpPr>
            <a:spLocks noGrp="1"/>
          </p:cNvSpPr>
          <p:nvPr>
            <p:ph type="title"/>
          </p:nvPr>
        </p:nvSpPr>
        <p:spPr>
          <a:xfrm>
            <a:off x="646111" y="452718"/>
            <a:ext cx="9404723" cy="1400530"/>
          </a:xfrm>
        </p:spPr>
        <p:txBody>
          <a:bodyPr>
            <a:normAutofit/>
          </a:bodyPr>
          <a:lstStyle/>
          <a:p>
            <a:r>
              <a:rPr lang="en-US"/>
              <a:t>Definition - Kernal</a:t>
            </a:r>
          </a:p>
        </p:txBody>
      </p:sp>
      <p:sp>
        <p:nvSpPr>
          <p:cNvPr id="3" name="Content Placeholder 2">
            <a:extLst>
              <a:ext uri="{FF2B5EF4-FFF2-40B4-BE49-F238E27FC236}">
                <a16:creationId xmlns:a16="http://schemas.microsoft.com/office/drawing/2014/main" id="{8114FECB-CD36-CD59-340A-E819F095C85D}"/>
              </a:ext>
            </a:extLst>
          </p:cNvPr>
          <p:cNvSpPr>
            <a:spLocks noGrp="1"/>
          </p:cNvSpPr>
          <p:nvPr>
            <p:ph idx="1"/>
          </p:nvPr>
        </p:nvSpPr>
        <p:spPr>
          <a:xfrm>
            <a:off x="1103312" y="2052918"/>
            <a:ext cx="8946541" cy="4195481"/>
          </a:xfrm>
        </p:spPr>
        <p:txBody>
          <a:bodyPr>
            <a:normAutofit/>
          </a:bodyPr>
          <a:lstStyle/>
          <a:p>
            <a:pPr>
              <a:lnSpc>
                <a:spcPct val="90000"/>
              </a:lnSpc>
            </a:pPr>
            <a:r>
              <a:rPr lang="en-US" sz="1700"/>
              <a:t>The </a:t>
            </a:r>
            <a:r>
              <a:rPr lang="en-US" sz="1700" b="1"/>
              <a:t>kernel</a:t>
            </a:r>
            <a:r>
              <a:rPr lang="en-US" sz="1700"/>
              <a:t> is the core component of an operating system. It acts as the "bridge" or intermediary between the software (applications) and the hardware (CPU, memory, disk).</a:t>
            </a:r>
          </a:p>
          <a:p>
            <a:pPr>
              <a:lnSpc>
                <a:spcPct val="90000"/>
              </a:lnSpc>
            </a:pPr>
            <a:r>
              <a:rPr lang="en-US" sz="1700" b="1"/>
              <a:t>Resource Management:</a:t>
            </a:r>
            <a:r>
              <a:rPr lang="en-US" sz="1700"/>
              <a:t> Applications cannot talk directly to hardware. If a program needs to save a file, it asks the kernel; the kernel then writes the data to the physical disk.</a:t>
            </a:r>
          </a:p>
          <a:p>
            <a:pPr>
              <a:lnSpc>
                <a:spcPct val="90000"/>
              </a:lnSpc>
            </a:pPr>
            <a:r>
              <a:rPr lang="en-US" sz="1700" b="1"/>
              <a:t>Memory Management:</a:t>
            </a:r>
            <a:r>
              <a:rPr lang="en-US" sz="1700"/>
              <a:t> The kernel decides which application gets how much RAM and ensures one program doesn't overwrite another's memory space.</a:t>
            </a:r>
          </a:p>
          <a:p>
            <a:pPr>
              <a:lnSpc>
                <a:spcPct val="90000"/>
              </a:lnSpc>
            </a:pPr>
            <a:r>
              <a:rPr lang="en-US" sz="1700" b="1"/>
              <a:t>Process Scheduling:</a:t>
            </a:r>
            <a:r>
              <a:rPr lang="en-US" sz="1700"/>
              <a:t> It determines which process gets to use the CPU at any given millisecond.</a:t>
            </a:r>
          </a:p>
          <a:p>
            <a:pPr>
              <a:lnSpc>
                <a:spcPct val="90000"/>
              </a:lnSpc>
            </a:pPr>
            <a:r>
              <a:rPr lang="en-US" sz="1700" b="1"/>
              <a:t>Logical takeaway:</a:t>
            </a:r>
            <a:r>
              <a:rPr lang="en-US" sz="1700"/>
              <a:t> Every OS has exactly one kernel. In Docker, the container doesn't have its own kernel; it sends "system calls" directly to the host's kernel.</a:t>
            </a:r>
          </a:p>
          <a:p>
            <a:pPr>
              <a:lnSpc>
                <a:spcPct val="90000"/>
              </a:lnSpc>
            </a:pPr>
            <a:endParaRPr lang="en-US" sz="1700"/>
          </a:p>
        </p:txBody>
      </p:sp>
    </p:spTree>
    <p:extLst>
      <p:ext uri="{BB962C8B-B14F-4D97-AF65-F5344CB8AC3E}">
        <p14:creationId xmlns:p14="http://schemas.microsoft.com/office/powerpoint/2010/main" val="1089092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00C9-13F3-5B7C-00A8-D8EAE6D2EAC5}"/>
              </a:ext>
            </a:extLst>
          </p:cNvPr>
          <p:cNvSpPr>
            <a:spLocks noGrp="1"/>
          </p:cNvSpPr>
          <p:nvPr>
            <p:ph type="title"/>
          </p:nvPr>
        </p:nvSpPr>
        <p:spPr>
          <a:xfrm>
            <a:off x="5868557" y="1138036"/>
            <a:ext cx="5444382" cy="1402470"/>
          </a:xfrm>
        </p:spPr>
        <p:txBody>
          <a:bodyPr anchor="t">
            <a:normAutofit/>
          </a:bodyPr>
          <a:lstStyle/>
          <a:p>
            <a:r>
              <a:rPr lang="en-US" sz="3200"/>
              <a:t>Understanding mechanics of isolation</a:t>
            </a:r>
          </a:p>
        </p:txBody>
      </p:sp>
      <p:sp>
        <p:nvSpPr>
          <p:cNvPr id="3" name="Content Placeholder 2">
            <a:extLst>
              <a:ext uri="{FF2B5EF4-FFF2-40B4-BE49-F238E27FC236}">
                <a16:creationId xmlns:a16="http://schemas.microsoft.com/office/drawing/2014/main" id="{11037A48-2DC8-28A7-F8FC-89E5DC6F0256}"/>
              </a:ext>
            </a:extLst>
          </p:cNvPr>
          <p:cNvSpPr>
            <a:spLocks noGrp="1"/>
          </p:cNvSpPr>
          <p:nvPr>
            <p:ph idx="1"/>
          </p:nvPr>
        </p:nvSpPr>
        <p:spPr>
          <a:xfrm>
            <a:off x="5868557" y="2551176"/>
            <a:ext cx="5444382" cy="3591207"/>
          </a:xfrm>
        </p:spPr>
        <p:txBody>
          <a:bodyPr>
            <a:normAutofit/>
          </a:bodyPr>
          <a:lstStyle/>
          <a:p>
            <a:r>
              <a:rPr lang="en-US" sz="1900"/>
              <a:t>In the architecture of a </a:t>
            </a:r>
            <a:r>
              <a:rPr lang="en-US" sz="1900" b="1"/>
              <a:t>Virtual Machine (VM)</a:t>
            </a:r>
            <a:r>
              <a:rPr lang="en-US" sz="1900"/>
              <a:t>, hardware resources are partitioned into rigid, distinct sections. This can be compared to a large room containing 100 people that must be divided into ten groups. To achieve isolation, one could draw physical lines on the floor, creating ten separate enclosures. Each group is confined to its specific square footage, and the resources within those boundaries are strictly reserved for them. Because each section operates as an independent unit with its own floor space (the Guest OS), the groups are entirely decoupled from one another at the "ground" level.</a:t>
            </a:r>
          </a:p>
        </p:txBody>
      </p:sp>
      <p:pic>
        <p:nvPicPr>
          <p:cNvPr id="5" name="Picture 4" descr="Digital line pattern background of buildings">
            <a:extLst>
              <a:ext uri="{FF2B5EF4-FFF2-40B4-BE49-F238E27FC236}">
                <a16:creationId xmlns:a16="http://schemas.microsoft.com/office/drawing/2014/main" id="{E88E6746-31D6-552A-7CE9-98DA9EDB4D56}"/>
              </a:ext>
            </a:extLst>
          </p:cNvPr>
          <p:cNvPicPr>
            <a:picLocks noChangeAspect="1"/>
          </p:cNvPicPr>
          <p:nvPr/>
        </p:nvPicPr>
        <p:blipFill>
          <a:blip r:embed="rId2"/>
          <a:srcRect l="18334" r="19886"/>
          <a:stretch>
            <a:fillRect/>
          </a:stretch>
        </p:blipFill>
        <p:spPr>
          <a:xfrm>
            <a:off x="-1" y="10"/>
            <a:ext cx="5151179" cy="6857990"/>
          </a:xfrm>
          <a:prstGeom prst="rect">
            <a:avLst/>
          </a:prstGeom>
        </p:spPr>
      </p:pic>
    </p:spTree>
    <p:extLst>
      <p:ext uri="{BB962C8B-B14F-4D97-AF65-F5344CB8AC3E}">
        <p14:creationId xmlns:p14="http://schemas.microsoft.com/office/powerpoint/2010/main" val="1654936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D9C3EF-15B0-A7EC-1CD4-9E95271F6C04}"/>
            </a:ext>
          </a:extLst>
        </p:cNvPr>
        <p:cNvGrpSpPr/>
        <p:nvPr/>
      </p:nvGrpSpPr>
      <p:grpSpPr>
        <a:xfrm>
          <a:off x="0" y="0"/>
          <a:ext cx="0" cy="0"/>
          <a:chOff x="0" y="0"/>
          <a:chExt cx="0" cy="0"/>
        </a:xfrm>
      </p:grpSpPr>
      <p:pic>
        <p:nvPicPr>
          <p:cNvPr id="5" name="Picture 4" descr="Digital line pattern background of buildings">
            <a:extLst>
              <a:ext uri="{FF2B5EF4-FFF2-40B4-BE49-F238E27FC236}">
                <a16:creationId xmlns:a16="http://schemas.microsoft.com/office/drawing/2014/main" id="{3750A4F9-59EA-613F-F002-3D1233C4C9FE}"/>
              </a:ext>
            </a:extLst>
          </p:cNvPr>
          <p:cNvPicPr>
            <a:picLocks noChangeAspect="1"/>
          </p:cNvPicPr>
          <p:nvPr/>
        </p:nvPicPr>
        <p:blipFill>
          <a:blip r:embed="rId2"/>
          <a:srcRect l="18334" r="19886"/>
          <a:stretch>
            <a:fillRect/>
          </a:stretch>
        </p:blipFill>
        <p:spPr>
          <a:xfrm>
            <a:off x="-1" y="10"/>
            <a:ext cx="5151179" cy="6857990"/>
          </a:xfrm>
          <a:prstGeom prst="rect">
            <a:avLst/>
          </a:prstGeom>
        </p:spPr>
      </p:pic>
      <p:sp>
        <p:nvSpPr>
          <p:cNvPr id="3" name="Content Placeholder 2">
            <a:extLst>
              <a:ext uri="{FF2B5EF4-FFF2-40B4-BE49-F238E27FC236}">
                <a16:creationId xmlns:a16="http://schemas.microsoft.com/office/drawing/2014/main" id="{4265090B-7385-E3E6-8C69-00D866CF87C6}"/>
              </a:ext>
            </a:extLst>
          </p:cNvPr>
          <p:cNvSpPr>
            <a:spLocks noGrp="1"/>
          </p:cNvSpPr>
          <p:nvPr>
            <p:ph idx="1"/>
          </p:nvPr>
        </p:nvSpPr>
        <p:spPr>
          <a:xfrm>
            <a:off x="5868557" y="871147"/>
            <a:ext cx="5444382" cy="5578810"/>
          </a:xfrm>
        </p:spPr>
        <p:txBody>
          <a:bodyPr>
            <a:noAutofit/>
          </a:bodyPr>
          <a:lstStyle/>
          <a:p>
            <a:pPr>
              <a:lnSpc>
                <a:spcPct val="120000"/>
              </a:lnSpc>
            </a:pPr>
            <a:r>
              <a:rPr lang="en-US" sz="1600" b="1" dirty="0"/>
              <a:t>Containers</a:t>
            </a:r>
            <a:r>
              <a:rPr lang="en-US" sz="1600" dirty="0"/>
              <a:t>, conversely, utilizes </a:t>
            </a:r>
            <a:r>
              <a:rPr lang="en-US" sz="1600" b="1" dirty="0"/>
              <a:t>namespaces</a:t>
            </a:r>
            <a:r>
              <a:rPr lang="en-US" sz="1600" dirty="0"/>
              <a:t> to achieve isolation without physical partitioning. Using the same room of 100 people, instead of drawing lines on the floor, imagine giving every person a "chit" or a badge labeled with their team number. While everyone continues to stand on the same shared floor and breathe the same air (the shared Host OS Kernel), the badges dictate their "view" of the room. The system ensures that a person with a "Team 1" badge can only see and interact with others wearing the same badge.</a:t>
            </a:r>
          </a:p>
          <a:p>
            <a:pPr>
              <a:lnSpc>
                <a:spcPct val="120000"/>
              </a:lnSpc>
            </a:pPr>
            <a:r>
              <a:rPr lang="en-US" sz="1600" dirty="0"/>
              <a:t>The primary distinction lies in </a:t>
            </a:r>
            <a:r>
              <a:rPr lang="en-US" sz="1600" b="1" dirty="0"/>
              <a:t>resource efficiency</a:t>
            </a:r>
            <a:r>
              <a:rPr lang="en-US" sz="1600" dirty="0"/>
              <a:t>. In the VM example, a section of the floor remains occupied even if its team leaves; the hardware is "locked" to that VM. In the Docker example, because there are no physical walls, the people can move freely and use any available space in the room as needed, provided they only interact with their designated teammates. This allows containers to be significantly more lightweight and flexible than traditional virtual machines.</a:t>
            </a:r>
          </a:p>
          <a:p>
            <a:pPr marL="0" indent="0">
              <a:lnSpc>
                <a:spcPct val="120000"/>
              </a:lnSpc>
              <a:buNone/>
            </a:pPr>
            <a:endParaRPr lang="en-US" sz="1600" dirty="0"/>
          </a:p>
        </p:txBody>
      </p:sp>
    </p:spTree>
    <p:extLst>
      <p:ext uri="{BB962C8B-B14F-4D97-AF65-F5344CB8AC3E}">
        <p14:creationId xmlns:p14="http://schemas.microsoft.com/office/powerpoint/2010/main" val="2741052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nalog board showing flight information">
            <a:extLst>
              <a:ext uri="{FF2B5EF4-FFF2-40B4-BE49-F238E27FC236}">
                <a16:creationId xmlns:a16="http://schemas.microsoft.com/office/drawing/2014/main" id="{B49435BA-1A30-32B8-A780-362EA765AE64}"/>
              </a:ext>
            </a:extLst>
          </p:cNvPr>
          <p:cNvPicPr>
            <a:picLocks noChangeAspect="1"/>
          </p:cNvPicPr>
          <p:nvPr/>
        </p:nvPicPr>
        <p:blipFill>
          <a:blip r:embed="rId2">
            <a:alphaModFix amt="60000"/>
          </a:blip>
          <a:srcRect t="14413" b="1318"/>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02113567-7B31-61A4-347C-5751F006064D}"/>
              </a:ext>
            </a:extLst>
          </p:cNvPr>
          <p:cNvSpPr>
            <a:spLocks noGrp="1"/>
          </p:cNvSpPr>
          <p:nvPr>
            <p:ph type="title"/>
          </p:nvPr>
        </p:nvSpPr>
        <p:spPr>
          <a:xfrm>
            <a:off x="838200" y="914402"/>
            <a:ext cx="10515600" cy="2985923"/>
          </a:xfrm>
        </p:spPr>
        <p:txBody>
          <a:bodyPr vert="horz" lIns="91440" tIns="45720" rIns="91440" bIns="45720" rtlCol="0" anchor="b">
            <a:normAutofit/>
          </a:bodyPr>
          <a:lstStyle/>
          <a:p>
            <a:pPr algn="ctr"/>
            <a:r>
              <a:rPr lang="en-US" sz="5200" dirty="0">
                <a:solidFill>
                  <a:srgbClr val="FFFFFF"/>
                </a:solidFill>
              </a:rPr>
              <a:t>Namespaces and </a:t>
            </a:r>
            <a:r>
              <a:rPr lang="en-US" sz="5200" dirty="0" err="1">
                <a:solidFill>
                  <a:srgbClr val="FFFFFF"/>
                </a:solidFill>
              </a:rPr>
              <a:t>Cgroups</a:t>
            </a:r>
            <a:r>
              <a:rPr lang="en-US" sz="5200" dirty="0">
                <a:solidFill>
                  <a:srgbClr val="FFFFFF"/>
                </a:solidFill>
              </a:rPr>
              <a:t> - Magic of Linux kernel</a:t>
            </a:r>
            <a:br>
              <a:rPr lang="en-US" sz="5200" dirty="0">
                <a:solidFill>
                  <a:srgbClr val="FFFFFF"/>
                </a:solidFill>
              </a:rPr>
            </a:br>
            <a:endParaRPr lang="en-US" sz="5200" dirty="0">
              <a:solidFill>
                <a:srgbClr val="FFFFFF"/>
              </a:solidFill>
            </a:endParaRPr>
          </a:p>
        </p:txBody>
      </p:sp>
    </p:spTree>
    <p:extLst>
      <p:ext uri="{BB962C8B-B14F-4D97-AF65-F5344CB8AC3E}">
        <p14:creationId xmlns:p14="http://schemas.microsoft.com/office/powerpoint/2010/main" val="285749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5802F0-DF0E-E65C-1D73-95BDF3889355}"/>
              </a:ext>
            </a:extLst>
          </p:cNvPr>
          <p:cNvSpPr>
            <a:spLocks noGrp="1"/>
          </p:cNvSpPr>
          <p:nvPr>
            <p:ph type="title"/>
          </p:nvPr>
        </p:nvSpPr>
        <p:spPr>
          <a:xfrm>
            <a:off x="838200" y="1748452"/>
            <a:ext cx="4974771" cy="3587786"/>
          </a:xfrm>
        </p:spPr>
        <p:txBody>
          <a:bodyPr vert="horz" lIns="91440" tIns="45720" rIns="91440" bIns="45720" rtlCol="0" anchor="ctr">
            <a:normAutofit/>
          </a:bodyPr>
          <a:lstStyle/>
          <a:p>
            <a:pPr marL="457200" indent="-457200" algn="ctr"/>
            <a:r>
              <a:rPr lang="en-US" sz="2100" kern="1200">
                <a:solidFill>
                  <a:schemeClr val="bg1"/>
                </a:solidFill>
                <a:latin typeface="+mj-lt"/>
                <a:ea typeface="+mj-ea"/>
                <a:cs typeface="+mj-cs"/>
              </a:rPr>
              <a:t>In the Linux architecture, </a:t>
            </a:r>
            <a:r>
              <a:rPr lang="en-US" sz="2100" b="1" kern="1200">
                <a:solidFill>
                  <a:schemeClr val="bg1"/>
                </a:solidFill>
                <a:latin typeface="+mj-lt"/>
                <a:ea typeface="+mj-ea"/>
                <a:cs typeface="+mj-cs"/>
              </a:rPr>
              <a:t>namespaces</a:t>
            </a:r>
            <a:r>
              <a:rPr lang="en-US" sz="2100" kern="1200">
                <a:solidFill>
                  <a:schemeClr val="bg1"/>
                </a:solidFill>
                <a:latin typeface="+mj-lt"/>
                <a:ea typeface="+mj-ea"/>
                <a:cs typeface="+mj-cs"/>
              </a:rPr>
              <a:t> function as a layer of abstraction that wraps global system resources into virtualized instances. Their primary usage is to isolate </a:t>
            </a:r>
            <a:r>
              <a:rPr lang="en-US" sz="2100" b="1" kern="1200">
                <a:solidFill>
                  <a:schemeClr val="bg1"/>
                </a:solidFill>
                <a:latin typeface="+mj-lt"/>
                <a:ea typeface="+mj-ea"/>
                <a:cs typeface="+mj-cs"/>
              </a:rPr>
              <a:t>runtime environments</a:t>
            </a:r>
            <a:r>
              <a:rPr lang="en-US" sz="2100" kern="1200">
                <a:solidFill>
                  <a:schemeClr val="bg1"/>
                </a:solidFill>
                <a:latin typeface="+mj-lt"/>
                <a:ea typeface="+mj-ea"/>
                <a:cs typeface="+mj-cs"/>
              </a:rPr>
              <a:t> so that processes inside a container believe they have their own independent system.</a:t>
            </a:r>
            <a:br>
              <a:rPr lang="en-US" sz="2100" kern="1200">
                <a:solidFill>
                  <a:schemeClr val="bg1"/>
                </a:solidFill>
                <a:latin typeface="+mj-lt"/>
                <a:ea typeface="+mj-ea"/>
                <a:cs typeface="+mj-cs"/>
              </a:rPr>
            </a:br>
            <a:br>
              <a:rPr lang="en-US" sz="2100" kern="1200">
                <a:solidFill>
                  <a:schemeClr val="bg1"/>
                </a:solidFill>
                <a:latin typeface="+mj-lt"/>
                <a:ea typeface="+mj-ea"/>
                <a:cs typeface="+mj-cs"/>
              </a:rPr>
            </a:br>
            <a:endParaRPr lang="en-US" sz="2100" kern="1200">
              <a:solidFill>
                <a:schemeClr val="bg1"/>
              </a:solidFill>
              <a:latin typeface="+mj-lt"/>
              <a:ea typeface="+mj-ea"/>
              <a:cs typeface="+mj-cs"/>
            </a:endParaRP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a:extLst>
              <a:ext uri="{FF2B5EF4-FFF2-40B4-BE49-F238E27FC236}">
                <a16:creationId xmlns:a16="http://schemas.microsoft.com/office/drawing/2014/main" id="{9660E8CA-BF7A-D713-E8EE-5CF953E9B36C}"/>
              </a:ext>
            </a:extLst>
          </p:cNvPr>
          <p:cNvSpPr txBox="1"/>
          <p:nvPr/>
        </p:nvSpPr>
        <p:spPr>
          <a:xfrm>
            <a:off x="6477270" y="1130846"/>
            <a:ext cx="4974771"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solidFill>
                  <a:schemeClr val="bg1"/>
                </a:solidFill>
              </a:rPr>
              <a:t>It is critical to note that while namespaces handle the isolation of the runtime environment, they do </a:t>
            </a:r>
            <a:r>
              <a:rPr lang="en-US" b="1">
                <a:solidFill>
                  <a:schemeClr val="bg1"/>
                </a:solidFill>
              </a:rPr>
              <a:t>not</a:t>
            </a:r>
            <a:r>
              <a:rPr lang="en-US">
                <a:solidFill>
                  <a:schemeClr val="bg1"/>
                </a:solidFill>
              </a:rPr>
              <a:t> inherently isolate storage. Namespaces determine what a process can </a:t>
            </a:r>
            <a:r>
              <a:rPr lang="en-US" i="1">
                <a:solidFill>
                  <a:schemeClr val="bg1"/>
                </a:solidFill>
              </a:rPr>
              <a:t>see</a:t>
            </a:r>
            <a:r>
              <a:rPr lang="en-US">
                <a:solidFill>
                  <a:schemeClr val="bg1"/>
                </a:solidFill>
              </a:rPr>
              <a:t> in terms of the system's execution state, but they do not manage the physical data or disk images.</a:t>
            </a:r>
          </a:p>
        </p:txBody>
      </p:sp>
    </p:spTree>
    <p:extLst>
      <p:ext uri="{BB962C8B-B14F-4D97-AF65-F5344CB8AC3E}">
        <p14:creationId xmlns:p14="http://schemas.microsoft.com/office/powerpoint/2010/main" val="3629352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2" name="Content Placeholder 10">
            <a:extLst>
              <a:ext uri="{FF2B5EF4-FFF2-40B4-BE49-F238E27FC236}">
                <a16:creationId xmlns:a16="http://schemas.microsoft.com/office/drawing/2014/main" id="{8B71CF4E-34AA-BC7C-7BCC-DC6B96EC9E7C}"/>
              </a:ext>
            </a:extLst>
          </p:cNvPr>
          <p:cNvGraphicFramePr>
            <a:graphicFrameLocks noGrp="1"/>
          </p:cNvGraphicFramePr>
          <p:nvPr>
            <p:ph idx="1"/>
            <p:extLst>
              <p:ext uri="{D42A27DB-BD31-4B8C-83A1-F6EECF244321}">
                <p14:modId xmlns:p14="http://schemas.microsoft.com/office/powerpoint/2010/main" val="190171872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7AAEB40E-0403-05CD-2530-126D40D078D7}"/>
              </a:ext>
            </a:extLst>
          </p:cNvPr>
          <p:cNvSpPr txBox="1"/>
          <p:nvPr/>
        </p:nvSpPr>
        <p:spPr>
          <a:xfrm>
            <a:off x="848239" y="772616"/>
            <a:ext cx="10505561" cy="2062103"/>
          </a:xfrm>
          <a:prstGeom prst="rect">
            <a:avLst/>
          </a:prstGeom>
          <a:noFill/>
        </p:spPr>
        <p:txBody>
          <a:bodyPr wrap="square" rtlCol="0">
            <a:spAutoFit/>
          </a:bodyPr>
          <a:lstStyle/>
          <a:p>
            <a:pPr algn="ctr"/>
            <a:r>
              <a:rPr lang="en-US" sz="3200" dirty="0"/>
              <a:t>Namespaces create a private "view" for a process. When you run a container, namespaces isolate the following runtime components:</a:t>
            </a:r>
          </a:p>
          <a:p>
            <a:pPr algn="ctr"/>
            <a:endParaRPr lang="en-US" sz="3200" dirty="0"/>
          </a:p>
        </p:txBody>
      </p:sp>
    </p:spTree>
    <p:extLst>
      <p:ext uri="{BB962C8B-B14F-4D97-AF65-F5344CB8AC3E}">
        <p14:creationId xmlns:p14="http://schemas.microsoft.com/office/powerpoint/2010/main" val="197011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89E1D-86E1-51D0-C465-6D5A7F4774E2}"/>
              </a:ext>
            </a:extLst>
          </p:cNvPr>
          <p:cNvSpPr>
            <a:spLocks noGrp="1"/>
          </p:cNvSpPr>
          <p:nvPr>
            <p:ph type="title"/>
          </p:nvPr>
        </p:nvSpPr>
        <p:spPr>
          <a:xfrm>
            <a:off x="838201" y="365125"/>
            <a:ext cx="5251316" cy="1807305"/>
          </a:xfrm>
        </p:spPr>
        <p:txBody>
          <a:bodyPr vert="horz" lIns="91440" tIns="45720" rIns="91440" bIns="45720" rtlCol="0" anchor="ctr">
            <a:normAutofit/>
          </a:bodyPr>
          <a:lstStyle/>
          <a:p>
            <a:r>
              <a:rPr lang="en-US"/>
              <a:t>Cgroups - the  walls of room</a:t>
            </a:r>
          </a:p>
        </p:txBody>
      </p:sp>
      <p:sp>
        <p:nvSpPr>
          <p:cNvPr id="3" name="TextBox 2">
            <a:extLst>
              <a:ext uri="{FF2B5EF4-FFF2-40B4-BE49-F238E27FC236}">
                <a16:creationId xmlns:a16="http://schemas.microsoft.com/office/drawing/2014/main" id="{10AB7D5D-81A6-7F4C-49C8-5B4000514694}"/>
              </a:ext>
            </a:extLst>
          </p:cNvPr>
          <p:cNvSpPr txBox="1"/>
          <p:nvPr/>
        </p:nvSpPr>
        <p:spPr>
          <a:xfrm>
            <a:off x="838200" y="2333297"/>
            <a:ext cx="4619621" cy="384366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a:t>While namespaces define what a container can </a:t>
            </a:r>
            <a:r>
              <a:rPr lang="en-US" sz="2000" b="1"/>
              <a:t>see</a:t>
            </a:r>
            <a:r>
              <a:rPr lang="en-US" sz="2000"/>
              <a:t>, </a:t>
            </a:r>
            <a:r>
              <a:rPr lang="en-US" sz="2000" b="1"/>
              <a:t>Control Groups (cgroups)</a:t>
            </a:r>
            <a:r>
              <a:rPr lang="en-US" sz="2000"/>
              <a:t> define what a container can </a:t>
            </a:r>
            <a:r>
              <a:rPr lang="en-US" sz="2000" b="1"/>
              <a:t>consume</a:t>
            </a:r>
            <a:r>
              <a:rPr lang="en-US" sz="2000"/>
              <a:t>. They are the resource-management backbone of the Linux kernel, ensuring that a single container cannot monopolize system resources like CPU, memory, or disk I/O, which would otherwise lead to "noisy neighbor" syndrome and system instability.</a:t>
            </a:r>
          </a:p>
          <a:p>
            <a:pPr indent="-228600">
              <a:lnSpc>
                <a:spcPct val="90000"/>
              </a:lnSpc>
              <a:spcAft>
                <a:spcPts val="600"/>
              </a:spcAft>
              <a:buFont typeface="Arial" panose="020B0604020202020204" pitchFamily="34" charset="0"/>
              <a:buChar char="•"/>
            </a:pPr>
            <a:endParaRPr lang="en-US" sz="2000"/>
          </a:p>
        </p:txBody>
      </p:sp>
      <p:pic>
        <p:nvPicPr>
          <p:cNvPr id="5" name="Picture 4">
            <a:extLst>
              <a:ext uri="{FF2B5EF4-FFF2-40B4-BE49-F238E27FC236}">
                <a16:creationId xmlns:a16="http://schemas.microsoft.com/office/drawing/2014/main" id="{047C6253-777B-9BA7-FC45-07A4770D657E}"/>
              </a:ext>
            </a:extLst>
          </p:cNvPr>
          <p:cNvPicPr>
            <a:picLocks noChangeAspect="1"/>
          </p:cNvPicPr>
          <p:nvPr/>
        </p:nvPicPr>
        <p:blipFill>
          <a:blip r:embed="rId2"/>
          <a:srcRect r="51093"/>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865773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AA3F01-17AF-E177-B519-6E330E92A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228F1-5E9C-1216-2826-D55EBBF0579D}"/>
              </a:ext>
            </a:extLst>
          </p:cNvPr>
          <p:cNvSpPr>
            <a:spLocks noGrp="1"/>
          </p:cNvSpPr>
          <p:nvPr>
            <p:ph type="title"/>
          </p:nvPr>
        </p:nvSpPr>
        <p:spPr>
          <a:xfrm>
            <a:off x="838201" y="365126"/>
            <a:ext cx="5251316" cy="1180646"/>
          </a:xfrm>
        </p:spPr>
        <p:txBody>
          <a:bodyPr vert="horz" lIns="91440" tIns="45720" rIns="91440" bIns="45720" rtlCol="0" anchor="ctr">
            <a:normAutofit/>
          </a:bodyPr>
          <a:lstStyle/>
          <a:p>
            <a:r>
              <a:rPr lang="en-US" dirty="0" err="1"/>
              <a:t>Cgroups</a:t>
            </a:r>
            <a:r>
              <a:rPr lang="en-US" dirty="0"/>
              <a:t> - continued</a:t>
            </a:r>
          </a:p>
        </p:txBody>
      </p:sp>
      <p:sp>
        <p:nvSpPr>
          <p:cNvPr id="3" name="TextBox 2">
            <a:extLst>
              <a:ext uri="{FF2B5EF4-FFF2-40B4-BE49-F238E27FC236}">
                <a16:creationId xmlns:a16="http://schemas.microsoft.com/office/drawing/2014/main" id="{24082420-CBAC-ABB6-BE85-26A403CD49C8}"/>
              </a:ext>
            </a:extLst>
          </p:cNvPr>
          <p:cNvSpPr txBox="1"/>
          <p:nvPr/>
        </p:nvSpPr>
        <p:spPr>
          <a:xfrm>
            <a:off x="835153" y="1545772"/>
            <a:ext cx="5127633" cy="4631191"/>
          </a:xfrm>
          <a:prstGeom prst="rect">
            <a:avLst/>
          </a:prstGeom>
        </p:spPr>
        <p:txBody>
          <a:bodyPr vert="horz" lIns="91440" tIns="45720" rIns="91440" bIns="45720" rtlCol="0">
            <a:normAutofit fontScale="92500" lnSpcReduction="10000"/>
          </a:bodyPr>
          <a:lstStyle/>
          <a:p>
            <a:pPr marL="342900" indent="-342900">
              <a:buFont typeface="Arial" panose="020B0604020202020204" pitchFamily="34" charset="0"/>
              <a:buChar char="•"/>
            </a:pPr>
            <a:r>
              <a:rPr lang="en-US" sz="2000" dirty="0"/>
              <a:t>To keep track of usage, the </a:t>
            </a:r>
            <a:r>
              <a:rPr lang="en-US" sz="2000" dirty="0" err="1"/>
              <a:t>cgroup</a:t>
            </a:r>
            <a:r>
              <a:rPr lang="en-US" sz="2000" dirty="0"/>
              <a:t> mechanism maintains counters for every resource type. The kernel intercepts system calls—such as requests for memory allocation or CPU cycles—and updates the corresponding </a:t>
            </a:r>
            <a:r>
              <a:rPr lang="en-US" sz="2000" dirty="0" err="1"/>
              <a:t>cgroup’s</a:t>
            </a:r>
            <a:r>
              <a:rPr lang="en-US" sz="2000" dirty="0"/>
              <a:t> usage files in real-time. This allows tools like Docker to provide live statistics on how much CPU or memory a container is currently utilizing. Because these metrics are gathered directly at the kernel level, the tracking is extremely precise and carries very low overhead.</a:t>
            </a:r>
          </a:p>
          <a:p>
            <a:pPr marL="342900" indent="-342900">
              <a:buFont typeface="Arial" panose="020B0604020202020204" pitchFamily="34" charset="0"/>
              <a:buChar char="•"/>
            </a:pPr>
            <a:r>
              <a:rPr lang="en-US" sz="2000" dirty="0"/>
              <a:t>The combination of visibility limits and consumption limits is what makes containerization viable: </a:t>
            </a:r>
            <a:r>
              <a:rPr lang="en-US" sz="2000" b="1" dirty="0"/>
              <a:t>namespaces and </a:t>
            </a:r>
            <a:r>
              <a:rPr lang="en-US" sz="2000" b="1" dirty="0" err="1"/>
              <a:t>cgroups</a:t>
            </a:r>
            <a:r>
              <a:rPr lang="en-US" sz="2000" b="1" dirty="0"/>
              <a:t> - magic of </a:t>
            </a:r>
            <a:r>
              <a:rPr lang="en-US" sz="2000" b="1" dirty="0" err="1"/>
              <a:t>linux</a:t>
            </a:r>
            <a:r>
              <a:rPr lang="en-US" sz="2000" b="1" dirty="0"/>
              <a:t> </a:t>
            </a:r>
            <a:r>
              <a:rPr lang="en-US" sz="2000" b="1" dirty="0" err="1"/>
              <a:t>kernal</a:t>
            </a:r>
            <a:r>
              <a:rPr lang="en-US" sz="2000" dirty="0"/>
              <a:t>.</a:t>
            </a:r>
          </a:p>
        </p:txBody>
      </p:sp>
      <p:pic>
        <p:nvPicPr>
          <p:cNvPr id="5" name="Picture 4">
            <a:extLst>
              <a:ext uri="{FF2B5EF4-FFF2-40B4-BE49-F238E27FC236}">
                <a16:creationId xmlns:a16="http://schemas.microsoft.com/office/drawing/2014/main" id="{B939F591-32CA-AF1D-FA27-50362B5A2E54}"/>
              </a:ext>
            </a:extLst>
          </p:cNvPr>
          <p:cNvPicPr>
            <a:picLocks noChangeAspect="1"/>
          </p:cNvPicPr>
          <p:nvPr/>
        </p:nvPicPr>
        <p:blipFill>
          <a:blip r:embed="rId2"/>
          <a:srcRect r="51093"/>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16117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7" name="Rectangle 6">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2B109C5B-3B98-48EB-A942-8D11CEA37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3"/>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A9C389E4-003E-40C9-AC9E-ED821C16F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8" name="Rectangle 17">
            <a:extLst>
              <a:ext uri="{FF2B5EF4-FFF2-40B4-BE49-F238E27FC236}">
                <a16:creationId xmlns:a16="http://schemas.microsoft.com/office/drawing/2014/main" id="{6C042684-2705-40BD-9104-A6B24CE1C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A64E9BD-B15C-BC6E-1A3E-A65A85E1BC3E}"/>
              </a:ext>
            </a:extLst>
          </p:cNvPr>
          <p:cNvSpPr>
            <a:spLocks noGrp="1"/>
          </p:cNvSpPr>
          <p:nvPr>
            <p:ph type="title"/>
          </p:nvPr>
        </p:nvSpPr>
        <p:spPr>
          <a:xfrm>
            <a:off x="5274825" y="1143000"/>
            <a:ext cx="6268246" cy="3134032"/>
          </a:xfrm>
        </p:spPr>
        <p:txBody>
          <a:bodyPr vert="horz" lIns="91440" tIns="45720" rIns="91440" bIns="45720" rtlCol="0" anchor="b">
            <a:normAutofit/>
          </a:bodyPr>
          <a:lstStyle/>
          <a:p>
            <a:pPr>
              <a:lnSpc>
                <a:spcPct val="90000"/>
              </a:lnSpc>
            </a:pPr>
            <a:r>
              <a:rPr lang="en-US" sz="2100" b="0" i="0" kern="1200">
                <a:solidFill>
                  <a:srgbClr val="EBEBEB"/>
                </a:solidFill>
                <a:latin typeface="+mj-lt"/>
                <a:ea typeface="+mj-ea"/>
                <a:cs typeface="+mj-cs"/>
              </a:rPr>
              <a:t>Namespaces and cgroups define the runtime execution of a container.</a:t>
            </a:r>
            <a:br>
              <a:rPr lang="en-US" sz="2100" b="0" i="0" kern="1200">
                <a:solidFill>
                  <a:srgbClr val="EBEBEB"/>
                </a:solidFill>
                <a:latin typeface="+mj-lt"/>
                <a:ea typeface="+mj-ea"/>
                <a:cs typeface="+mj-cs"/>
              </a:rPr>
            </a:br>
            <a:br>
              <a:rPr lang="en-US" sz="2100" b="0" i="0" kern="1200">
                <a:solidFill>
                  <a:srgbClr val="EBEBEB"/>
                </a:solidFill>
                <a:latin typeface="+mj-lt"/>
                <a:ea typeface="+mj-ea"/>
                <a:cs typeface="+mj-cs"/>
              </a:rPr>
            </a:br>
            <a:r>
              <a:rPr lang="en-US" sz="2100" b="0" i="0" kern="1200">
                <a:solidFill>
                  <a:srgbClr val="EBEBEB"/>
                </a:solidFill>
                <a:latin typeface="+mj-lt"/>
                <a:ea typeface="+mj-ea"/>
                <a:cs typeface="+mj-cs"/>
              </a:rPr>
              <a:t>Now we will look into the static segment of containers and try to answer following questions.</a:t>
            </a:r>
            <a:br>
              <a:rPr lang="en-US" sz="2100" b="0" i="0" kern="1200">
                <a:solidFill>
                  <a:srgbClr val="EBEBEB"/>
                </a:solidFill>
                <a:latin typeface="+mj-lt"/>
                <a:ea typeface="+mj-ea"/>
                <a:cs typeface="+mj-cs"/>
              </a:rPr>
            </a:br>
            <a:br>
              <a:rPr lang="en-US" sz="2100" b="0" i="0" kern="1200">
                <a:solidFill>
                  <a:srgbClr val="EBEBEB"/>
                </a:solidFill>
                <a:latin typeface="+mj-lt"/>
                <a:ea typeface="+mj-ea"/>
                <a:cs typeface="+mj-cs"/>
              </a:rPr>
            </a:br>
            <a:r>
              <a:rPr lang="en-US" sz="2100" b="0" i="0" kern="1200">
                <a:solidFill>
                  <a:srgbClr val="EBEBEB"/>
                </a:solidFill>
                <a:latin typeface="+mj-lt"/>
                <a:ea typeface="+mj-ea"/>
                <a:cs typeface="+mj-cs"/>
              </a:rPr>
              <a:t>where does the file system come from, how does the storage of containers work, and how are they transferred?</a:t>
            </a:r>
          </a:p>
        </p:txBody>
      </p:sp>
      <p:pic>
        <p:nvPicPr>
          <p:cNvPr id="3" name="Graphic 2" descr="Help">
            <a:extLst>
              <a:ext uri="{FF2B5EF4-FFF2-40B4-BE49-F238E27FC236}">
                <a16:creationId xmlns:a16="http://schemas.microsoft.com/office/drawing/2014/main" id="{ADAF002F-9A4F-FC21-C2F3-31C94B5C50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9764" y="1661911"/>
            <a:ext cx="3531062" cy="3531062"/>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08695926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loorplan on a table">
            <a:extLst>
              <a:ext uri="{FF2B5EF4-FFF2-40B4-BE49-F238E27FC236}">
                <a16:creationId xmlns:a16="http://schemas.microsoft.com/office/drawing/2014/main" id="{3AE8F39F-3962-689C-1694-4EF0FC95B2F1}"/>
              </a:ext>
            </a:extLst>
          </p:cNvPr>
          <p:cNvPicPr>
            <a:picLocks noChangeAspect="1"/>
          </p:cNvPicPr>
          <p:nvPr/>
        </p:nvPicPr>
        <p:blipFill>
          <a:blip r:embed="rId2">
            <a:alphaModFix amt="40000"/>
          </a:blip>
          <a:srcRect t="10106" b="10107"/>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E426AFC1-B1E9-B17E-0D39-79A71D529E72}"/>
              </a:ext>
            </a:extLst>
          </p:cNvPr>
          <p:cNvSpPr>
            <a:spLocks noGrp="1"/>
          </p:cNvSpPr>
          <p:nvPr>
            <p:ph type="title"/>
          </p:nvPr>
        </p:nvSpPr>
        <p:spPr>
          <a:xfrm>
            <a:off x="841249" y="941832"/>
            <a:ext cx="10506456" cy="2057400"/>
          </a:xfrm>
        </p:spPr>
        <p:txBody>
          <a:bodyPr anchor="b">
            <a:normAutofit/>
          </a:bodyPr>
          <a:lstStyle/>
          <a:p>
            <a:r>
              <a:rPr lang="en-US" sz="5000">
                <a:solidFill>
                  <a:schemeClr val="bg1"/>
                </a:solidFill>
              </a:rPr>
              <a:t>The Blueprint - Images</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7DB2787-A7F9-2A45-E8F7-DDC362C0E519}"/>
              </a:ext>
            </a:extLst>
          </p:cNvPr>
          <p:cNvSpPr>
            <a:spLocks noGrp="1"/>
          </p:cNvSpPr>
          <p:nvPr>
            <p:ph idx="1"/>
          </p:nvPr>
        </p:nvSpPr>
        <p:spPr>
          <a:xfrm>
            <a:off x="841248" y="3502152"/>
            <a:ext cx="10506456" cy="2670048"/>
          </a:xfrm>
        </p:spPr>
        <p:txBody>
          <a:bodyPr>
            <a:normAutofit/>
          </a:bodyPr>
          <a:lstStyle/>
          <a:p>
            <a:r>
              <a:rPr lang="en-US" sz="2000">
                <a:solidFill>
                  <a:schemeClr val="bg1"/>
                </a:solidFill>
              </a:rPr>
              <a:t>We have now seen how </a:t>
            </a:r>
            <a:r>
              <a:rPr lang="en-US" sz="2000" b="1">
                <a:solidFill>
                  <a:schemeClr val="bg1"/>
                </a:solidFill>
              </a:rPr>
              <a:t>Namespaces and Cgroups</a:t>
            </a:r>
            <a:r>
              <a:rPr lang="en-US" sz="2000">
                <a:solidFill>
                  <a:schemeClr val="bg1"/>
                </a:solidFill>
              </a:rPr>
              <a:t> create the 'room' and set the 'rules' for our processes. But a room is useless if it is empty. To actually do work, the container needs a file system—it needs libraries, configuration files, and the application code itself. This is where </a:t>
            </a:r>
            <a:r>
              <a:rPr lang="en-US" sz="2000" b="1">
                <a:solidFill>
                  <a:schemeClr val="bg1"/>
                </a:solidFill>
              </a:rPr>
              <a:t>Images</a:t>
            </a:r>
            <a:r>
              <a:rPr lang="en-US" sz="2000">
                <a:solidFill>
                  <a:schemeClr val="bg1"/>
                </a:solidFill>
              </a:rPr>
              <a:t> come in. If Namespaces and Cgroups are the 'runtime environment,' then the </a:t>
            </a:r>
            <a:r>
              <a:rPr lang="en-US" sz="2000" b="1">
                <a:solidFill>
                  <a:schemeClr val="bg1"/>
                </a:solidFill>
              </a:rPr>
              <a:t>Image</a:t>
            </a:r>
            <a:r>
              <a:rPr lang="en-US" sz="2000">
                <a:solidFill>
                  <a:schemeClr val="bg1"/>
                </a:solidFill>
              </a:rPr>
              <a:t> is the frozen blueprint or the 'template' that fills that environment with life.</a:t>
            </a:r>
          </a:p>
        </p:txBody>
      </p:sp>
    </p:spTree>
    <p:extLst>
      <p:ext uri="{BB962C8B-B14F-4D97-AF65-F5344CB8AC3E}">
        <p14:creationId xmlns:p14="http://schemas.microsoft.com/office/powerpoint/2010/main" val="3064034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0216D9FD-860F-4F5C-8D9B-CE7002071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15C8828-4636-E3BB-4D6C-914D1CA1565F}"/>
              </a:ext>
            </a:extLst>
          </p:cNvPr>
          <p:cNvSpPr>
            <a:spLocks noGrp="1"/>
          </p:cNvSpPr>
          <p:nvPr>
            <p:ph type="title"/>
          </p:nvPr>
        </p:nvSpPr>
        <p:spPr>
          <a:xfrm>
            <a:off x="882651" y="977028"/>
            <a:ext cx="3333410" cy="5237503"/>
          </a:xfrm>
        </p:spPr>
        <p:txBody>
          <a:bodyPr vert="horz" lIns="91440" tIns="45720" rIns="91440" bIns="45720" rtlCol="0" anchor="ctr">
            <a:normAutofit/>
          </a:bodyPr>
          <a:lstStyle/>
          <a:p>
            <a:r>
              <a:rPr lang="en-US" b="0" i="0" kern="1200" cap="all" dirty="0">
                <a:solidFill>
                  <a:schemeClr val="tx1"/>
                </a:solidFill>
                <a:effectLst/>
                <a:latin typeface="+mj-lt"/>
                <a:ea typeface="+mj-ea"/>
                <a:cs typeface="+mj-cs"/>
              </a:rPr>
              <a:t>What is an image?</a:t>
            </a:r>
          </a:p>
        </p:txBody>
      </p:sp>
      <p:sp>
        <p:nvSpPr>
          <p:cNvPr id="19" name="Rectangle 18">
            <a:extLst>
              <a:ext uri="{FF2B5EF4-FFF2-40B4-BE49-F238E27FC236}">
                <a16:creationId xmlns:a16="http://schemas.microsoft.com/office/drawing/2014/main" id="{8D074069-7026-466C-B495-20FB9578C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993" y="0"/>
            <a:ext cx="7538007" cy="6858000"/>
          </a:xfrm>
          <a:prstGeom prst="rect">
            <a:avLst/>
          </a:prstGeom>
          <a:solidFill>
            <a:schemeClr val="tx2"/>
          </a:solidFill>
          <a:ln w="6350">
            <a:noFill/>
          </a:ln>
          <a:effectLst/>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1685D80-4D5A-471F-9215-651424F47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787" y="0"/>
            <a:ext cx="164592" cy="6858000"/>
          </a:xfrm>
          <a:prstGeom prst="rect">
            <a:avLst/>
          </a:prstGeom>
          <a:solidFill>
            <a:schemeClr val="accent2"/>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69C1E9D8-5817-259F-382D-FC7297828E0E}"/>
              </a:ext>
            </a:extLst>
          </p:cNvPr>
          <p:cNvSpPr>
            <a:spLocks noGrp="1"/>
          </p:cNvSpPr>
          <p:nvPr>
            <p:ph sz="half" idx="1"/>
          </p:nvPr>
        </p:nvSpPr>
        <p:spPr>
          <a:xfrm>
            <a:off x="5791954" y="977029"/>
            <a:ext cx="5428789" cy="5237503"/>
          </a:xfrm>
        </p:spPr>
        <p:txBody>
          <a:bodyPr vert="horz" lIns="91440" tIns="45720" rIns="91440" bIns="45720" rtlCol="0" anchor="ctr">
            <a:noAutofit/>
          </a:bodyPr>
          <a:lstStyle/>
          <a:p>
            <a:pPr marL="0">
              <a:lnSpc>
                <a:spcPct val="110000"/>
              </a:lnSpc>
            </a:pPr>
            <a:r>
              <a:rPr lang="en-US" sz="1600" b="1" dirty="0">
                <a:solidFill>
                  <a:schemeClr val="bg1"/>
                </a:solidFill>
              </a:rPr>
              <a:t>What exactly is an “image”?</a:t>
            </a:r>
          </a:p>
          <a:p>
            <a:pPr marL="0">
              <a:lnSpc>
                <a:spcPct val="110000"/>
              </a:lnSpc>
            </a:pPr>
            <a:r>
              <a:rPr lang="en-US" sz="1600" dirty="0">
                <a:solidFill>
                  <a:schemeClr val="bg1"/>
                </a:solidFill>
              </a:rPr>
              <a:t>An </a:t>
            </a:r>
            <a:r>
              <a:rPr lang="en-US" sz="1600" b="1" dirty="0">
                <a:solidFill>
                  <a:schemeClr val="bg1"/>
                </a:solidFill>
              </a:rPr>
              <a:t>image</a:t>
            </a:r>
            <a:r>
              <a:rPr lang="en-US" sz="1600" dirty="0">
                <a:solidFill>
                  <a:schemeClr val="bg1"/>
                </a:solidFill>
              </a:rPr>
              <a:t> is:</a:t>
            </a:r>
          </a:p>
          <a:p>
            <a:pPr marL="0">
              <a:lnSpc>
                <a:spcPct val="110000"/>
              </a:lnSpc>
            </a:pPr>
            <a:r>
              <a:rPr lang="en-US" sz="1600" dirty="0">
                <a:solidFill>
                  <a:schemeClr val="bg1"/>
                </a:solidFill>
              </a:rPr>
              <a:t>A </a:t>
            </a:r>
            <a:r>
              <a:rPr lang="en-US" sz="1600" b="1" dirty="0">
                <a:solidFill>
                  <a:schemeClr val="bg1"/>
                </a:solidFill>
              </a:rPr>
              <a:t>read-only template</a:t>
            </a:r>
            <a:r>
              <a:rPr lang="en-US" sz="1600" dirty="0">
                <a:solidFill>
                  <a:schemeClr val="bg1"/>
                </a:solidFill>
              </a:rPr>
              <a:t> that contains everything needed to run a program.</a:t>
            </a:r>
          </a:p>
          <a:p>
            <a:pPr marL="0">
              <a:lnSpc>
                <a:spcPct val="110000"/>
              </a:lnSpc>
            </a:pPr>
            <a:r>
              <a:rPr lang="en-US" sz="1600" dirty="0">
                <a:solidFill>
                  <a:schemeClr val="bg1"/>
                </a:solidFill>
              </a:rPr>
              <a:t>This includes:</a:t>
            </a:r>
          </a:p>
          <a:p>
            <a:pPr>
              <a:lnSpc>
                <a:spcPct val="110000"/>
              </a:lnSpc>
            </a:pPr>
            <a:r>
              <a:rPr lang="en-US" sz="1600" dirty="0">
                <a:solidFill>
                  <a:schemeClr val="bg1"/>
                </a:solidFill>
              </a:rPr>
              <a:t>Base OS files (like from Ubuntu) </a:t>
            </a:r>
          </a:p>
          <a:p>
            <a:pPr>
              <a:lnSpc>
                <a:spcPct val="110000"/>
              </a:lnSpc>
            </a:pPr>
            <a:r>
              <a:rPr lang="en-US" sz="1600" dirty="0">
                <a:solidFill>
                  <a:schemeClr val="bg1"/>
                </a:solidFill>
              </a:rPr>
              <a:t>Libraries </a:t>
            </a:r>
          </a:p>
          <a:p>
            <a:pPr>
              <a:lnSpc>
                <a:spcPct val="110000"/>
              </a:lnSpc>
            </a:pPr>
            <a:r>
              <a:rPr lang="en-US" sz="1600" dirty="0">
                <a:solidFill>
                  <a:schemeClr val="bg1"/>
                </a:solidFill>
              </a:rPr>
              <a:t>Dependencies </a:t>
            </a:r>
          </a:p>
          <a:p>
            <a:pPr>
              <a:lnSpc>
                <a:spcPct val="110000"/>
              </a:lnSpc>
            </a:pPr>
            <a:r>
              <a:rPr lang="en-US" sz="1600" dirty="0">
                <a:solidFill>
                  <a:schemeClr val="bg1"/>
                </a:solidFill>
              </a:rPr>
              <a:t>Your application code </a:t>
            </a:r>
          </a:p>
          <a:p>
            <a:pPr>
              <a:lnSpc>
                <a:spcPct val="110000"/>
              </a:lnSpc>
            </a:pPr>
            <a:r>
              <a:rPr lang="en-US" sz="1600" dirty="0">
                <a:solidFill>
                  <a:schemeClr val="bg1"/>
                </a:solidFill>
              </a:rPr>
              <a:t>Default configs </a:t>
            </a:r>
          </a:p>
          <a:p>
            <a:pPr>
              <a:lnSpc>
                <a:spcPct val="110000"/>
              </a:lnSpc>
            </a:pPr>
            <a:r>
              <a:rPr lang="en-US" sz="1600" dirty="0">
                <a:solidFill>
                  <a:schemeClr val="bg1"/>
                </a:solidFill>
              </a:rPr>
              <a:t>👉 Think of an image like a </a:t>
            </a:r>
            <a:r>
              <a:rPr lang="en-US" sz="1600" b="1" dirty="0">
                <a:solidFill>
                  <a:schemeClr val="bg1"/>
                </a:solidFill>
              </a:rPr>
              <a:t>blueprint or snapshot of a filesystem</a:t>
            </a:r>
            <a:r>
              <a:rPr lang="en-US" sz="1600" dirty="0">
                <a:solidFill>
                  <a:schemeClr val="bg1"/>
                </a:solidFill>
              </a:rPr>
              <a:t>.</a:t>
            </a:r>
          </a:p>
          <a:p>
            <a:pPr marL="0">
              <a:lnSpc>
                <a:spcPct val="110000"/>
              </a:lnSpc>
            </a:pPr>
            <a:endParaRPr lang="en-US" sz="1600" dirty="0">
              <a:solidFill>
                <a:schemeClr val="bg1"/>
              </a:solidFill>
            </a:endParaRPr>
          </a:p>
          <a:p>
            <a:pPr marL="0">
              <a:lnSpc>
                <a:spcPct val="110000"/>
              </a:lnSpc>
            </a:pPr>
            <a:r>
              <a:rPr lang="en-US" sz="1600" b="1" dirty="0">
                <a:solidFill>
                  <a:schemeClr val="bg1"/>
                </a:solidFill>
              </a:rPr>
              <a:t>Analogy</a:t>
            </a:r>
          </a:p>
          <a:p>
            <a:pPr>
              <a:lnSpc>
                <a:spcPct val="110000"/>
              </a:lnSpc>
            </a:pPr>
            <a:r>
              <a:rPr lang="en-US" sz="1600" dirty="0">
                <a:solidFill>
                  <a:schemeClr val="bg1"/>
                </a:solidFill>
              </a:rPr>
              <a:t>Image = class (blueprint) </a:t>
            </a:r>
          </a:p>
          <a:p>
            <a:pPr>
              <a:lnSpc>
                <a:spcPct val="110000"/>
              </a:lnSpc>
            </a:pPr>
            <a:r>
              <a:rPr lang="en-US" sz="1600" dirty="0">
                <a:solidFill>
                  <a:schemeClr val="bg1"/>
                </a:solidFill>
              </a:rPr>
              <a:t>Container = object (instance of that class) </a:t>
            </a:r>
          </a:p>
          <a:p>
            <a:pPr marL="0" indent="0">
              <a:lnSpc>
                <a:spcPct val="110000"/>
              </a:lnSpc>
              <a:buNone/>
            </a:pPr>
            <a:br>
              <a:rPr lang="en-US" sz="1600" dirty="0">
                <a:solidFill>
                  <a:schemeClr val="bg1"/>
                </a:solidFill>
              </a:rPr>
            </a:br>
            <a:endParaRPr lang="en-US" sz="1600" dirty="0">
              <a:solidFill>
                <a:schemeClr val="bg1"/>
              </a:solidFill>
            </a:endParaRPr>
          </a:p>
          <a:p>
            <a:pPr marL="0">
              <a:lnSpc>
                <a:spcPct val="110000"/>
              </a:lnSpc>
            </a:pPr>
            <a:endParaRPr lang="en-US" sz="1600" dirty="0">
              <a:solidFill>
                <a:schemeClr val="bg1"/>
              </a:solidFill>
            </a:endParaRPr>
          </a:p>
        </p:txBody>
      </p:sp>
    </p:spTree>
    <p:extLst>
      <p:ext uri="{BB962C8B-B14F-4D97-AF65-F5344CB8AC3E}">
        <p14:creationId xmlns:p14="http://schemas.microsoft.com/office/powerpoint/2010/main" val="4074632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CAACF0-016E-EB9F-2CEA-C8F87E1CE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BB8A2-207A-9A14-D2A7-51D43713E22B}"/>
              </a:ext>
            </a:extLst>
          </p:cNvPr>
          <p:cNvSpPr>
            <a:spLocks noGrp="1"/>
          </p:cNvSpPr>
          <p:nvPr>
            <p:ph type="title"/>
          </p:nvPr>
        </p:nvSpPr>
        <p:spPr>
          <a:xfrm>
            <a:off x="646111" y="452718"/>
            <a:ext cx="9404723" cy="1400530"/>
          </a:xfrm>
        </p:spPr>
        <p:txBody>
          <a:bodyPr>
            <a:normAutofit/>
          </a:bodyPr>
          <a:lstStyle/>
          <a:p>
            <a:r>
              <a:rPr lang="en-US" dirty="0">
                <a:solidFill>
                  <a:schemeClr val="tx1"/>
                </a:solidFill>
              </a:rPr>
              <a:t>Definition - filesystem</a:t>
            </a:r>
          </a:p>
        </p:txBody>
      </p:sp>
      <p:sp>
        <p:nvSpPr>
          <p:cNvPr id="3" name="Content Placeholder 2">
            <a:extLst>
              <a:ext uri="{FF2B5EF4-FFF2-40B4-BE49-F238E27FC236}">
                <a16:creationId xmlns:a16="http://schemas.microsoft.com/office/drawing/2014/main" id="{18F6B938-2A47-EF53-14CF-8E592464E86A}"/>
              </a:ext>
            </a:extLst>
          </p:cNvPr>
          <p:cNvSpPr>
            <a:spLocks noGrp="1"/>
          </p:cNvSpPr>
          <p:nvPr>
            <p:ph idx="1"/>
          </p:nvPr>
        </p:nvSpPr>
        <p:spPr>
          <a:xfrm>
            <a:off x="1103312" y="2052918"/>
            <a:ext cx="8946541" cy="4195481"/>
          </a:xfrm>
        </p:spPr>
        <p:txBody>
          <a:bodyPr>
            <a:normAutofit fontScale="92500" lnSpcReduction="20000"/>
          </a:bodyPr>
          <a:lstStyle/>
          <a:p>
            <a:r>
              <a:rPr lang="en-US" sz="1600" dirty="0"/>
              <a:t>A </a:t>
            </a:r>
            <a:r>
              <a:rPr lang="en-US" sz="1600" b="1" dirty="0"/>
              <a:t>filesystem</a:t>
            </a:r>
            <a:r>
              <a:rPr lang="en-US" sz="1600" dirty="0"/>
              <a:t> is the method an operating system uses to </a:t>
            </a:r>
            <a:r>
              <a:rPr lang="en-US" sz="1600" b="1" dirty="0"/>
              <a:t>organize, store, retrieve, and manage files on a storage device</a:t>
            </a:r>
            <a:r>
              <a:rPr lang="en-US" sz="1600" dirty="0"/>
              <a:t> (like a hard disk, SSD, USB drive, etc.).</a:t>
            </a:r>
          </a:p>
          <a:p>
            <a:r>
              <a:rPr lang="en-US" sz="1600" dirty="0"/>
              <a:t>Think of a filesystem like a </a:t>
            </a:r>
            <a:r>
              <a:rPr lang="en-US" sz="1600" b="1" dirty="0"/>
              <a:t>library catalog system</a:t>
            </a:r>
            <a:r>
              <a:rPr lang="en-US" sz="1600" dirty="0"/>
              <a:t> — the books are data, and the catalog system tells you where each book is stored and how to find it.</a:t>
            </a:r>
          </a:p>
          <a:p>
            <a:r>
              <a:rPr lang="en-US" sz="1600" b="1" dirty="0"/>
              <a:t>What a filesystem actually does</a:t>
            </a:r>
          </a:p>
          <a:p>
            <a:r>
              <a:rPr lang="en-US" sz="1600" dirty="0"/>
              <a:t>A filesystem is responsible for:</a:t>
            </a:r>
          </a:p>
          <a:p>
            <a:r>
              <a:rPr lang="en-US" sz="1600" dirty="0"/>
              <a:t>Naming files </a:t>
            </a:r>
          </a:p>
          <a:p>
            <a:r>
              <a:rPr lang="en-US" sz="1600" dirty="0"/>
              <a:t>Organizing files into directories/folders </a:t>
            </a:r>
          </a:p>
          <a:p>
            <a:r>
              <a:rPr lang="en-US" sz="1600" dirty="0"/>
              <a:t>Storing file data on disk blocks </a:t>
            </a:r>
          </a:p>
          <a:p>
            <a:r>
              <a:rPr lang="en-US" sz="1600" dirty="0"/>
              <a:t>Keeping metadata (size, permissions, timestamps, owner) </a:t>
            </a:r>
          </a:p>
          <a:p>
            <a:r>
              <a:rPr lang="en-US" sz="1600" dirty="0"/>
              <a:t>Managing free space </a:t>
            </a:r>
          </a:p>
          <a:p>
            <a:r>
              <a:rPr lang="en-US" sz="1600" dirty="0"/>
              <a:t>Controlling access permissions </a:t>
            </a:r>
          </a:p>
          <a:p>
            <a:r>
              <a:rPr lang="en-US" sz="1600" dirty="0"/>
              <a:t>So when you open a file like: /home/user/file.txt the filesystem figures out </a:t>
            </a:r>
            <a:r>
              <a:rPr lang="en-US" sz="1600" b="1" dirty="0"/>
              <a:t>where on the disk the actual data is stored</a:t>
            </a:r>
            <a:r>
              <a:rPr lang="en-US" sz="1600" dirty="0"/>
              <a:t> and retrieves it.</a:t>
            </a:r>
          </a:p>
          <a:p>
            <a:endParaRPr lang="en-US" sz="1600" dirty="0"/>
          </a:p>
        </p:txBody>
      </p:sp>
    </p:spTree>
    <p:extLst>
      <p:ext uri="{BB962C8B-B14F-4D97-AF65-F5344CB8AC3E}">
        <p14:creationId xmlns:p14="http://schemas.microsoft.com/office/powerpoint/2010/main" val="1665030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344E-EA80-ACBA-A6BC-CCBF92045255}"/>
              </a:ext>
            </a:extLst>
          </p:cNvPr>
          <p:cNvSpPr>
            <a:spLocks noGrp="1"/>
          </p:cNvSpPr>
          <p:nvPr>
            <p:ph type="title"/>
          </p:nvPr>
        </p:nvSpPr>
        <p:spPr>
          <a:xfrm>
            <a:off x="849454" y="112006"/>
            <a:ext cx="10820403" cy="1425506"/>
          </a:xfrm>
        </p:spPr>
        <p:txBody>
          <a:bodyPr vert="horz" lIns="91440" tIns="45720" rIns="91440" bIns="45720" rtlCol="0" anchor="ctr">
            <a:noAutofit/>
          </a:bodyPr>
          <a:lstStyle/>
          <a:p>
            <a:pPr algn="ctr"/>
            <a:r>
              <a:rPr lang="en-US" kern="1200" dirty="0">
                <a:latin typeface="+mj-lt"/>
                <a:ea typeface="+mj-ea"/>
                <a:cs typeface="+mj-cs"/>
              </a:rPr>
              <a:t>How are images made and stored and transferred.</a:t>
            </a:r>
          </a:p>
        </p:txBody>
      </p:sp>
      <p:graphicFrame>
        <p:nvGraphicFramePr>
          <p:cNvPr id="5" name="TextBox 2">
            <a:extLst>
              <a:ext uri="{FF2B5EF4-FFF2-40B4-BE49-F238E27FC236}">
                <a16:creationId xmlns:a16="http://schemas.microsoft.com/office/drawing/2014/main" id="{6E09395B-D595-7FED-5FEC-36F335C3EA0C}"/>
              </a:ext>
            </a:extLst>
          </p:cNvPr>
          <p:cNvGraphicFramePr/>
          <p:nvPr>
            <p:extLst>
              <p:ext uri="{D42A27DB-BD31-4B8C-83A1-F6EECF244321}">
                <p14:modId xmlns:p14="http://schemas.microsoft.com/office/powerpoint/2010/main" val="319870740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0113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530C4-AB92-B32F-EDC0-4EBD41F7CB19}"/>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4200"/>
              <a:t>How are the layers of image stored?</a:t>
            </a:r>
          </a:p>
        </p:txBody>
      </p:sp>
      <p:sp>
        <p:nvSpPr>
          <p:cNvPr id="3" name="TextBox 2">
            <a:extLst>
              <a:ext uri="{FF2B5EF4-FFF2-40B4-BE49-F238E27FC236}">
                <a16:creationId xmlns:a16="http://schemas.microsoft.com/office/drawing/2014/main" id="{89347C2A-2F17-9B5A-AD63-1620FE28F7A4}"/>
              </a:ext>
            </a:extLst>
          </p:cNvPr>
          <p:cNvSpPr txBox="1"/>
          <p:nvPr/>
        </p:nvSpPr>
        <p:spPr>
          <a:xfrm>
            <a:off x="640080" y="2872899"/>
            <a:ext cx="4243589" cy="332066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900" dirty="0"/>
              <a:t>Docker uses a </a:t>
            </a:r>
            <a:r>
              <a:rPr lang="en-US" sz="1900" b="1" dirty="0"/>
              <a:t>Content Addressable Storage</a:t>
            </a:r>
            <a:r>
              <a:rPr lang="en-US" sz="1900" dirty="0"/>
              <a:t> system.</a:t>
            </a:r>
          </a:p>
          <a:p>
            <a:pPr marL="285750" indent="-228600">
              <a:lnSpc>
                <a:spcPct val="90000"/>
              </a:lnSpc>
              <a:spcAft>
                <a:spcPts val="600"/>
              </a:spcAft>
              <a:buFont typeface="Arial" panose="020B0604020202020204" pitchFamily="34" charset="0"/>
              <a:buChar char="•"/>
            </a:pPr>
            <a:r>
              <a:rPr lang="en-US" sz="1900" b="1" dirty="0"/>
              <a:t>Layer IDs (Hashes):</a:t>
            </a:r>
            <a:r>
              <a:rPr lang="en-US" sz="1900" dirty="0"/>
              <a:t> Each layer is identified by a SHA256 hash of its contents. If two different images both use the exact same Debian base layer, Docker only stores that layer </a:t>
            </a:r>
            <a:r>
              <a:rPr lang="en-US" sz="1900" b="1" dirty="0"/>
              <a:t>once</a:t>
            </a:r>
            <a:r>
              <a:rPr lang="en-US" sz="1900" dirty="0"/>
              <a:t> on your disk.</a:t>
            </a:r>
          </a:p>
          <a:p>
            <a:pPr marL="285750" indent="-228600">
              <a:lnSpc>
                <a:spcPct val="90000"/>
              </a:lnSpc>
              <a:spcAft>
                <a:spcPts val="600"/>
              </a:spcAft>
              <a:buFont typeface="Arial" panose="020B0604020202020204" pitchFamily="34" charset="0"/>
              <a:buChar char="•"/>
            </a:pPr>
            <a:r>
              <a:rPr lang="en-US" sz="1900" dirty="0"/>
              <a:t>This avoids wastage of disk storage in storing the same </a:t>
            </a:r>
            <a:r>
              <a:rPr lang="en-US" sz="1900" dirty="0" err="1"/>
              <a:t>os</a:t>
            </a:r>
            <a:r>
              <a:rPr lang="en-US" sz="1900" dirty="0"/>
              <a:t> again and again for different containers.</a:t>
            </a:r>
          </a:p>
        </p:txBody>
      </p:sp>
      <p:pic>
        <p:nvPicPr>
          <p:cNvPr id="4" name="Picture 3" descr="Colorful rolled magazines">
            <a:extLst>
              <a:ext uri="{FF2B5EF4-FFF2-40B4-BE49-F238E27FC236}">
                <a16:creationId xmlns:a16="http://schemas.microsoft.com/office/drawing/2014/main" id="{A2573E32-788C-4009-8EDB-81991822ABB3}"/>
              </a:ext>
            </a:extLst>
          </p:cNvPr>
          <p:cNvPicPr>
            <a:picLocks noChangeAspect="1"/>
          </p:cNvPicPr>
          <p:nvPr/>
        </p:nvPicPr>
        <p:blipFill>
          <a:blip r:embed="rId2"/>
          <a:srcRect l="16525" r="16522"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2371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49EC12-90BF-34D3-16B3-FB2E30EA35E7}"/>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a:solidFill>
                  <a:schemeClr val="bg1"/>
                </a:solidFill>
                <a:latin typeface="+mj-lt"/>
                <a:ea typeface="+mj-ea"/>
                <a:cs typeface="+mj-cs"/>
              </a:rPr>
              <a:t>Sharing of base layers</a:t>
            </a:r>
          </a:p>
        </p:txBody>
      </p:sp>
      <p:pic>
        <p:nvPicPr>
          <p:cNvPr id="10" name="Picture 9">
            <a:extLst>
              <a:ext uri="{FF2B5EF4-FFF2-40B4-BE49-F238E27FC236}">
                <a16:creationId xmlns:a16="http://schemas.microsoft.com/office/drawing/2014/main" id="{E9CEC241-3B4A-0CB2-B35F-E4CD2E27E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7422" y="1392452"/>
            <a:ext cx="10036628" cy="5469963"/>
          </a:xfrm>
          <a:prstGeom prst="rect">
            <a:avLst/>
          </a:prstGeom>
        </p:spPr>
      </p:pic>
    </p:spTree>
    <p:extLst>
      <p:ext uri="{BB962C8B-B14F-4D97-AF65-F5344CB8AC3E}">
        <p14:creationId xmlns:p14="http://schemas.microsoft.com/office/powerpoint/2010/main" val="901052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396EA28-2D87-EFBF-DF90-FA6D27CB936A}"/>
              </a:ext>
            </a:extLst>
          </p:cNvPr>
          <p:cNvPicPr>
            <a:picLocks noChangeAspect="1"/>
          </p:cNvPicPr>
          <p:nvPr/>
        </p:nvPicPr>
        <p:blipFill>
          <a:blip r:embed="rId2">
            <a:alphaModFix amt="60000"/>
          </a:blip>
          <a:srcRect/>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679234CA-FEF0-364D-8C1A-5610354910AA}"/>
              </a:ext>
            </a:extLst>
          </p:cNvPr>
          <p:cNvSpPr>
            <a:spLocks noGrp="1"/>
          </p:cNvSpPr>
          <p:nvPr>
            <p:ph type="title"/>
          </p:nvPr>
        </p:nvSpPr>
        <p:spPr>
          <a:xfrm>
            <a:off x="1198181" y="728906"/>
            <a:ext cx="9792471" cy="2057037"/>
          </a:xfrm>
        </p:spPr>
        <p:txBody>
          <a:bodyPr vert="horz" lIns="91440" tIns="45720" rIns="91440" bIns="45720" rtlCol="0" anchor="ctr">
            <a:normAutofit/>
          </a:bodyPr>
          <a:lstStyle/>
          <a:p>
            <a:r>
              <a:rPr lang="en-US">
                <a:solidFill>
                  <a:srgbClr val="FFFFFF"/>
                </a:solidFill>
              </a:rPr>
              <a:t>How the layers of images and containers interact? – THE MANIFEST</a:t>
            </a:r>
          </a:p>
        </p:txBody>
      </p:sp>
      <p:sp>
        <p:nvSpPr>
          <p:cNvPr id="3" name="TextBox 2">
            <a:extLst>
              <a:ext uri="{FF2B5EF4-FFF2-40B4-BE49-F238E27FC236}">
                <a16:creationId xmlns:a16="http://schemas.microsoft.com/office/drawing/2014/main" id="{87A0D824-AABD-B59F-AF12-79C49C51AD98}"/>
              </a:ext>
            </a:extLst>
          </p:cNvPr>
          <p:cNvSpPr txBox="1"/>
          <p:nvPr/>
        </p:nvSpPr>
        <p:spPr>
          <a:xfrm>
            <a:off x="1198181" y="2957665"/>
            <a:ext cx="9792471" cy="3171423"/>
          </a:xfrm>
          <a:prstGeom prst="rect">
            <a:avLst/>
          </a:prstGeom>
        </p:spPr>
        <p:txBody>
          <a:bodyPr vert="horz" lIns="91440" tIns="45720" rIns="91440" bIns="45720" rtlCol="0">
            <a:normAutofit/>
          </a:bodyPr>
          <a:lstStyle/>
          <a:p>
            <a:pPr>
              <a:lnSpc>
                <a:spcPct val="90000"/>
              </a:lnSpc>
              <a:spcAft>
                <a:spcPts val="600"/>
              </a:spcAft>
            </a:pPr>
            <a:r>
              <a:rPr lang="en-US" sz="1900" dirty="0">
                <a:solidFill>
                  <a:srgbClr val="FFFFFF"/>
                </a:solidFill>
              </a:rPr>
              <a:t>To understand how this works, you have to look at the </a:t>
            </a:r>
            <a:r>
              <a:rPr lang="en-US" sz="1900" b="1" dirty="0">
                <a:solidFill>
                  <a:srgbClr val="FFFFFF"/>
                </a:solidFill>
              </a:rPr>
              <a:t>Storage Driver</a:t>
            </a:r>
            <a:r>
              <a:rPr lang="en-US" sz="1900" dirty="0">
                <a:solidFill>
                  <a:srgbClr val="FFFFFF"/>
                </a:solidFill>
              </a:rPr>
              <a:t> (specifically </a:t>
            </a:r>
            <a:r>
              <a:rPr lang="en-US" sz="1900" b="1" dirty="0">
                <a:solidFill>
                  <a:srgbClr val="FFFFFF"/>
                </a:solidFill>
              </a:rPr>
              <a:t>Overlay2</a:t>
            </a:r>
            <a:r>
              <a:rPr lang="en-US" sz="1900" dirty="0">
                <a:solidFill>
                  <a:srgbClr val="FFFFFF"/>
                </a:solidFill>
              </a:rPr>
              <a:t>, which is the modern standard). It uses a concept called </a:t>
            </a:r>
            <a:r>
              <a:rPr lang="en-US" sz="1900" b="1" dirty="0">
                <a:solidFill>
                  <a:srgbClr val="FFFFFF"/>
                </a:solidFill>
              </a:rPr>
              <a:t>Union Mounting</a:t>
            </a:r>
            <a:r>
              <a:rPr lang="en-US" sz="1900" dirty="0">
                <a:solidFill>
                  <a:srgbClr val="FFFFFF"/>
                </a:solidFill>
              </a:rPr>
              <a:t>.</a:t>
            </a:r>
          </a:p>
          <a:p>
            <a:pPr>
              <a:lnSpc>
                <a:spcPct val="90000"/>
              </a:lnSpc>
              <a:spcAft>
                <a:spcPts val="600"/>
              </a:spcAft>
            </a:pPr>
            <a:r>
              <a:rPr lang="en-US" sz="1900" b="1" dirty="0">
                <a:solidFill>
                  <a:schemeClr val="accent2"/>
                </a:solidFill>
              </a:rPr>
              <a:t>The "Pointer" Mechanism: The Manifest</a:t>
            </a:r>
            <a:endParaRPr lang="en-US" sz="1900" dirty="0">
              <a:solidFill>
                <a:schemeClr val="accent2"/>
              </a:solidFill>
            </a:endParaRPr>
          </a:p>
          <a:p>
            <a:pPr marL="285750" indent="-228600">
              <a:lnSpc>
                <a:spcPct val="90000"/>
              </a:lnSpc>
              <a:spcAft>
                <a:spcPts val="600"/>
              </a:spcAft>
              <a:buFont typeface="Arial" panose="020B0604020202020204" pitchFamily="34" charset="0"/>
              <a:buChar char="•"/>
            </a:pPr>
            <a:r>
              <a:rPr lang="en-US" sz="1900" dirty="0">
                <a:solidFill>
                  <a:srgbClr val="FFFFFF"/>
                </a:solidFill>
              </a:rPr>
              <a:t>Each image has a JSON file (the manifest) that lists the SHA256 hashes of the layers it needs.</a:t>
            </a:r>
          </a:p>
          <a:p>
            <a:pPr marL="285750" indent="-228600">
              <a:lnSpc>
                <a:spcPct val="90000"/>
              </a:lnSpc>
              <a:spcAft>
                <a:spcPts val="600"/>
              </a:spcAft>
              <a:buFont typeface="Arial" panose="020B0604020202020204" pitchFamily="34" charset="0"/>
              <a:buChar char="•"/>
            </a:pPr>
            <a:r>
              <a:rPr lang="en-US" sz="1900" dirty="0">
                <a:solidFill>
                  <a:srgbClr val="FFFFFF"/>
                </a:solidFill>
              </a:rPr>
              <a:t>When you start a container, Docker looks at the manifest, finds those layers in its local storage (the "Layer Store"), and "points" to them.</a:t>
            </a:r>
          </a:p>
          <a:p>
            <a:pPr marL="285750" indent="-228600">
              <a:lnSpc>
                <a:spcPct val="90000"/>
              </a:lnSpc>
              <a:spcAft>
                <a:spcPts val="600"/>
              </a:spcAft>
              <a:buFont typeface="Arial" panose="020B0604020202020204" pitchFamily="34" charset="0"/>
              <a:buChar char="•"/>
            </a:pPr>
            <a:r>
              <a:rPr lang="en-US" sz="1900" b="1" dirty="0">
                <a:solidFill>
                  <a:srgbClr val="FFFFFF"/>
                </a:solidFill>
              </a:rPr>
              <a:t>Physical Location:</a:t>
            </a:r>
            <a:r>
              <a:rPr lang="en-US" sz="1900" dirty="0">
                <a:solidFill>
                  <a:srgbClr val="FFFFFF"/>
                </a:solidFill>
              </a:rPr>
              <a:t> On a Linux system, these layers physically live in </a:t>
            </a:r>
            <a:r>
              <a:rPr lang="en-US" sz="1900" dirty="0">
                <a:solidFill>
                  <a:srgbClr val="FFFF00"/>
                </a:solidFill>
              </a:rPr>
              <a:t>/var/lib/docker/overlay2/. </a:t>
            </a:r>
            <a:r>
              <a:rPr lang="en-US" sz="1900" dirty="0">
                <a:solidFill>
                  <a:srgbClr val="FFFFFF"/>
                </a:solidFill>
              </a:rPr>
              <a:t>If ten images use the same Ubuntu base layer, they all point to the exact same directory on your hard drive.</a:t>
            </a:r>
          </a:p>
          <a:p>
            <a:pPr indent="-228600">
              <a:lnSpc>
                <a:spcPct val="90000"/>
              </a:lnSpc>
              <a:spcAft>
                <a:spcPts val="600"/>
              </a:spcAft>
              <a:buFont typeface="Arial" panose="020B0604020202020204" pitchFamily="34" charset="0"/>
              <a:buChar char="•"/>
            </a:pPr>
            <a:endParaRPr lang="en-US" sz="1900" dirty="0">
              <a:solidFill>
                <a:srgbClr val="FFFFFF"/>
              </a:solidFill>
            </a:endParaRPr>
          </a:p>
        </p:txBody>
      </p:sp>
    </p:spTree>
    <p:extLst>
      <p:ext uri="{BB962C8B-B14F-4D97-AF65-F5344CB8AC3E}">
        <p14:creationId xmlns:p14="http://schemas.microsoft.com/office/powerpoint/2010/main" val="3078082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E62C5-62BA-0FC3-833B-036FB86AB109}"/>
              </a:ext>
            </a:extLst>
          </p:cNvPr>
          <p:cNvSpPr>
            <a:spLocks noGrp="1"/>
          </p:cNvSpPr>
          <p:nvPr>
            <p:ph type="title"/>
          </p:nvPr>
        </p:nvSpPr>
        <p:spPr/>
        <p:txBody>
          <a:bodyPr/>
          <a:lstStyle/>
          <a:p>
            <a:pPr algn="ctr"/>
            <a:r>
              <a:rPr lang="en-US" dirty="0"/>
              <a:t>Union mounting and Copy-on-write: isolation with shared resources</a:t>
            </a:r>
          </a:p>
        </p:txBody>
      </p:sp>
      <p:sp>
        <p:nvSpPr>
          <p:cNvPr id="3" name="Text Placeholder 2">
            <a:extLst>
              <a:ext uri="{FF2B5EF4-FFF2-40B4-BE49-F238E27FC236}">
                <a16:creationId xmlns:a16="http://schemas.microsoft.com/office/drawing/2014/main" id="{86B13661-8B87-E0D8-85A3-77FBAB9CC1AA}"/>
              </a:ext>
            </a:extLst>
          </p:cNvPr>
          <p:cNvSpPr>
            <a:spLocks noGrp="1"/>
          </p:cNvSpPr>
          <p:nvPr>
            <p:ph type="body" idx="1"/>
          </p:nvPr>
        </p:nvSpPr>
        <p:spPr/>
        <p:txBody>
          <a:bodyPr/>
          <a:lstStyle/>
          <a:p>
            <a:r>
              <a:rPr lang="en-US" dirty="0"/>
              <a:t>Union  mounting (the magic)</a:t>
            </a:r>
          </a:p>
        </p:txBody>
      </p:sp>
      <p:sp>
        <p:nvSpPr>
          <p:cNvPr id="4" name="Content Placeholder 3">
            <a:extLst>
              <a:ext uri="{FF2B5EF4-FFF2-40B4-BE49-F238E27FC236}">
                <a16:creationId xmlns:a16="http://schemas.microsoft.com/office/drawing/2014/main" id="{DC760E99-8F59-3439-B56A-3981290FE8CD}"/>
              </a:ext>
            </a:extLst>
          </p:cNvPr>
          <p:cNvSpPr>
            <a:spLocks noGrp="1"/>
          </p:cNvSpPr>
          <p:nvPr>
            <p:ph sz="half" idx="2"/>
          </p:nvPr>
        </p:nvSpPr>
        <p:spPr/>
        <p:txBody>
          <a:bodyPr>
            <a:normAutofit fontScale="92500" lnSpcReduction="20000"/>
          </a:bodyPr>
          <a:lstStyle/>
          <a:p>
            <a:r>
              <a:rPr lang="en-US" dirty="0"/>
              <a:t>The Storage Driver creates a </a:t>
            </a:r>
            <a:r>
              <a:rPr lang="en-US" b="1" dirty="0"/>
              <a:t>Merged View</a:t>
            </a:r>
            <a:r>
              <a:rPr lang="en-US" dirty="0"/>
              <a:t>.</a:t>
            </a:r>
          </a:p>
          <a:p>
            <a:r>
              <a:rPr lang="en-US" b="1" dirty="0" err="1"/>
              <a:t>LowerDir</a:t>
            </a:r>
            <a:r>
              <a:rPr lang="en-US" b="1" dirty="0"/>
              <a:t>:</a:t>
            </a:r>
            <a:r>
              <a:rPr lang="en-US" dirty="0"/>
              <a:t> These are the read-only image layers.</a:t>
            </a:r>
          </a:p>
          <a:p>
            <a:r>
              <a:rPr lang="en-US" b="1" dirty="0" err="1"/>
              <a:t>UpperDir</a:t>
            </a:r>
            <a:r>
              <a:rPr lang="en-US" b="1" dirty="0"/>
              <a:t>:</a:t>
            </a:r>
            <a:r>
              <a:rPr lang="en-US" dirty="0"/>
              <a:t> This is the container's specific writable layer.</a:t>
            </a:r>
          </a:p>
          <a:p>
            <a:r>
              <a:rPr lang="en-US" b="1" dirty="0"/>
              <a:t>Merged:</a:t>
            </a:r>
            <a:r>
              <a:rPr lang="en-US" dirty="0"/>
              <a:t> This is what the process inside the container actually sees.</a:t>
            </a:r>
          </a:p>
          <a:p>
            <a:r>
              <a:rPr lang="en-US" dirty="0"/>
              <a:t>When Container A looks for /bin/bash, the kernel looks in its </a:t>
            </a:r>
            <a:r>
              <a:rPr lang="en-US" b="1" dirty="0" err="1"/>
              <a:t>UpperDir</a:t>
            </a:r>
            <a:r>
              <a:rPr lang="en-US" dirty="0"/>
              <a:t> (writable layer). It’s not there. So, it looks "down" into the </a:t>
            </a:r>
            <a:r>
              <a:rPr lang="en-US" b="1" dirty="0" err="1"/>
              <a:t>LowerDir</a:t>
            </a:r>
            <a:r>
              <a:rPr lang="en-US" dirty="0"/>
              <a:t> (the image layer), finds it, and provides it.</a:t>
            </a:r>
          </a:p>
          <a:p>
            <a:endParaRPr lang="en-US" dirty="0"/>
          </a:p>
        </p:txBody>
      </p:sp>
      <p:sp>
        <p:nvSpPr>
          <p:cNvPr id="5" name="Text Placeholder 4">
            <a:extLst>
              <a:ext uri="{FF2B5EF4-FFF2-40B4-BE49-F238E27FC236}">
                <a16:creationId xmlns:a16="http://schemas.microsoft.com/office/drawing/2014/main" id="{1C7ED4C3-963B-BF0D-A543-6EF0F15C3CC3}"/>
              </a:ext>
            </a:extLst>
          </p:cNvPr>
          <p:cNvSpPr>
            <a:spLocks noGrp="1"/>
          </p:cNvSpPr>
          <p:nvPr>
            <p:ph type="body" sz="quarter" idx="3"/>
          </p:nvPr>
        </p:nvSpPr>
        <p:spPr/>
        <p:txBody>
          <a:bodyPr/>
          <a:lstStyle/>
          <a:p>
            <a:r>
              <a:rPr lang="en-US" dirty="0"/>
              <a:t>Copy-On-Write(isolation)</a:t>
            </a:r>
          </a:p>
        </p:txBody>
      </p:sp>
      <p:sp>
        <p:nvSpPr>
          <p:cNvPr id="6" name="Content Placeholder 5">
            <a:extLst>
              <a:ext uri="{FF2B5EF4-FFF2-40B4-BE49-F238E27FC236}">
                <a16:creationId xmlns:a16="http://schemas.microsoft.com/office/drawing/2014/main" id="{653994AC-5899-5D55-491C-7AE28ACB0CD4}"/>
              </a:ext>
            </a:extLst>
          </p:cNvPr>
          <p:cNvSpPr>
            <a:spLocks noGrp="1"/>
          </p:cNvSpPr>
          <p:nvPr>
            <p:ph sz="quarter" idx="4"/>
          </p:nvPr>
        </p:nvSpPr>
        <p:spPr>
          <a:xfrm>
            <a:off x="6172200" y="2872488"/>
            <a:ext cx="5183188" cy="3684588"/>
          </a:xfrm>
        </p:spPr>
        <p:txBody>
          <a:bodyPr>
            <a:normAutofit fontScale="92500" lnSpcReduction="20000"/>
          </a:bodyPr>
          <a:lstStyle/>
          <a:p>
            <a:r>
              <a:rPr lang="en-US" b="1" dirty="0"/>
              <a:t>Scenario:</a:t>
            </a:r>
            <a:r>
              <a:rPr lang="en-US" dirty="0"/>
              <a:t> Container A wants to modify /</a:t>
            </a:r>
            <a:r>
              <a:rPr lang="en-US" dirty="0" err="1"/>
              <a:t>etc</a:t>
            </a:r>
            <a:r>
              <a:rPr lang="en-US" dirty="0"/>
              <a:t>/hosts (which exists in the read-only base layer).</a:t>
            </a:r>
          </a:p>
          <a:p>
            <a:r>
              <a:rPr lang="en-US" b="1" dirty="0"/>
              <a:t>The Action:</a:t>
            </a:r>
            <a:r>
              <a:rPr lang="en-US" dirty="0"/>
              <a:t> Docker immediately </a:t>
            </a:r>
            <a:r>
              <a:rPr lang="en-US" b="1" dirty="0"/>
              <a:t>copies</a:t>
            </a:r>
            <a:r>
              <a:rPr lang="en-US" dirty="0"/>
              <a:t> </a:t>
            </a:r>
            <a:r>
              <a:rPr lang="en-US" dirty="0">
                <a:solidFill>
                  <a:schemeClr val="tx1">
                    <a:lumMod val="50000"/>
                    <a:lumOff val="50000"/>
                  </a:schemeClr>
                </a:solidFill>
              </a:rPr>
              <a:t>/</a:t>
            </a:r>
            <a:r>
              <a:rPr lang="en-US" dirty="0" err="1">
                <a:solidFill>
                  <a:schemeClr val="tx1">
                    <a:lumMod val="50000"/>
                    <a:lumOff val="50000"/>
                  </a:schemeClr>
                </a:solidFill>
              </a:rPr>
              <a:t>etc</a:t>
            </a:r>
            <a:r>
              <a:rPr lang="en-US" dirty="0">
                <a:solidFill>
                  <a:schemeClr val="tx1">
                    <a:lumMod val="50000"/>
                    <a:lumOff val="50000"/>
                  </a:schemeClr>
                </a:solidFill>
              </a:rPr>
              <a:t>/hosts </a:t>
            </a:r>
            <a:r>
              <a:rPr lang="en-US" dirty="0"/>
              <a:t>from the read-only layer up into Container A’s </a:t>
            </a:r>
            <a:r>
              <a:rPr lang="en-US" b="1" dirty="0" err="1"/>
              <a:t>UpperDir</a:t>
            </a:r>
            <a:r>
              <a:rPr lang="en-US" dirty="0"/>
              <a:t> (writable layer).</a:t>
            </a:r>
          </a:p>
          <a:p>
            <a:r>
              <a:rPr lang="en-US" b="1" dirty="0"/>
              <a:t>The Result:</a:t>
            </a:r>
            <a:r>
              <a:rPr lang="en-US" dirty="0"/>
              <a:t> Container A modifies its own copy. Container B still looks "down" at the original file in the base layer and sees no changes.</a:t>
            </a:r>
          </a:p>
          <a:p>
            <a:r>
              <a:rPr lang="en-US" dirty="0"/>
              <a:t>This is why starting a container is nearly instantaneous. Docker doesn't copy the 200MB OS; it just creates a tiny, empty directory (the writable layer) and tells the kernel to "stack" it on top of the existing image layers.</a:t>
            </a:r>
          </a:p>
          <a:p>
            <a:endParaRPr lang="en-US" b="1" dirty="0"/>
          </a:p>
        </p:txBody>
      </p:sp>
    </p:spTree>
    <p:extLst>
      <p:ext uri="{BB962C8B-B14F-4D97-AF65-F5344CB8AC3E}">
        <p14:creationId xmlns:p14="http://schemas.microsoft.com/office/powerpoint/2010/main" val="1947470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AD3D06B-633A-3F07-7E16-66E4AFEF5ADD}"/>
              </a:ext>
            </a:extLst>
          </p:cNvPr>
          <p:cNvSpPr>
            <a:spLocks noGrp="1"/>
          </p:cNvSpPr>
          <p:nvPr>
            <p:ph type="title"/>
          </p:nvPr>
        </p:nvSpPr>
        <p:spPr>
          <a:xfrm>
            <a:off x="838200" y="365125"/>
            <a:ext cx="5393361" cy="1325563"/>
          </a:xfrm>
        </p:spPr>
        <p:style>
          <a:lnRef idx="2">
            <a:schemeClr val="accent2">
              <a:shade val="15000"/>
            </a:schemeClr>
          </a:lnRef>
          <a:fillRef idx="1">
            <a:schemeClr val="accent2"/>
          </a:fillRef>
          <a:effectRef idx="0">
            <a:schemeClr val="accent2"/>
          </a:effectRef>
          <a:fontRef idx="minor">
            <a:schemeClr val="lt1"/>
          </a:fontRef>
        </p:style>
        <p:txBody>
          <a:bodyPr>
            <a:normAutofit fontScale="90000"/>
          </a:bodyPr>
          <a:lstStyle/>
          <a:p>
            <a:r>
              <a:rPr lang="en-US" sz="3700" dirty="0"/>
              <a:t>What does transferring containers actually mean?</a:t>
            </a:r>
          </a:p>
        </p:txBody>
      </p:sp>
      <p:graphicFrame>
        <p:nvGraphicFramePr>
          <p:cNvPr id="75" name="Content Placeholder 8">
            <a:extLst>
              <a:ext uri="{FF2B5EF4-FFF2-40B4-BE49-F238E27FC236}">
                <a16:creationId xmlns:a16="http://schemas.microsoft.com/office/drawing/2014/main" id="{C2F94977-2A51-C1F4-F4D1-F8DB0E86D5B5}"/>
              </a:ext>
            </a:extLst>
          </p:cNvPr>
          <p:cNvGraphicFramePr>
            <a:graphicFrameLocks noGrp="1"/>
          </p:cNvGraphicFramePr>
          <p:nvPr>
            <p:ph idx="1"/>
            <p:extLst>
              <p:ext uri="{D42A27DB-BD31-4B8C-83A1-F6EECF244321}">
                <p14:modId xmlns:p14="http://schemas.microsoft.com/office/powerpoint/2010/main" val="3255863204"/>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Graphic 12" descr="Transfer">
            <a:extLst>
              <a:ext uri="{FF2B5EF4-FFF2-40B4-BE49-F238E27FC236}">
                <a16:creationId xmlns:a16="http://schemas.microsoft.com/office/drawing/2014/main" id="{65D5959A-9CA8-71B5-1010-D42FACB048B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1430276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C38FA-C5E0-A237-8F66-968E24853CE7}"/>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sz="6000" kern="1200" dirty="0">
                <a:solidFill>
                  <a:schemeClr val="tx1"/>
                </a:solidFill>
                <a:latin typeface="+mj-lt"/>
                <a:ea typeface="+mj-ea"/>
                <a:cs typeface="+mj-cs"/>
              </a:rPr>
              <a:t>Why can we not use zip files for transfer from one machine to other?</a:t>
            </a:r>
          </a:p>
        </p:txBody>
      </p:sp>
      <p:pic>
        <p:nvPicPr>
          <p:cNvPr id="4" name="Graphic 3" descr="Help">
            <a:extLst>
              <a:ext uri="{FF2B5EF4-FFF2-40B4-BE49-F238E27FC236}">
                <a16:creationId xmlns:a16="http://schemas.microsoft.com/office/drawing/2014/main" id="{E056E1D7-CB26-01C9-4150-EDFFFFBE03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91807" y="1778800"/>
            <a:ext cx="2531341" cy="2531341"/>
          </a:xfrm>
          <a:prstGeom prst="rect">
            <a:avLst/>
          </a:prstGeom>
        </p:spPr>
      </p:pic>
    </p:spTree>
    <p:extLst>
      <p:ext uri="{BB962C8B-B14F-4D97-AF65-F5344CB8AC3E}">
        <p14:creationId xmlns:p14="http://schemas.microsoft.com/office/powerpoint/2010/main" val="434069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02F3-194D-B620-E754-6B595F8ACDE6}"/>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F3EC0686-3D1F-8AD1-0626-65ABC2276A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067" y="0"/>
            <a:ext cx="12293229" cy="6861337"/>
          </a:xfrm>
          <a:prstGeom prst="rect">
            <a:avLst/>
          </a:prstGeom>
        </p:spPr>
      </p:pic>
    </p:spTree>
    <p:extLst>
      <p:ext uri="{BB962C8B-B14F-4D97-AF65-F5344CB8AC3E}">
        <p14:creationId xmlns:p14="http://schemas.microsoft.com/office/powerpoint/2010/main" val="941964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9C2E03-CC25-8B5B-C070-FDD2FA4D5ADC}"/>
              </a:ext>
            </a:extLst>
          </p:cNvPr>
          <p:cNvSpPr>
            <a:spLocks noGrp="1"/>
          </p:cNvSpPr>
          <p:nvPr>
            <p:ph type="title"/>
          </p:nvPr>
        </p:nvSpPr>
        <p:spPr>
          <a:xfrm>
            <a:off x="686834" y="1153572"/>
            <a:ext cx="3200400" cy="4461163"/>
          </a:xfrm>
        </p:spPr>
        <p:txBody>
          <a:bodyPr>
            <a:normAutofit/>
          </a:bodyPr>
          <a:lstStyle/>
          <a:p>
            <a:r>
              <a:rPr lang="en-US" sz="3400">
                <a:solidFill>
                  <a:srgbClr val="FFFFFF"/>
                </a:solidFill>
              </a:rPr>
              <a:t>In case of zip file we need to install all the dependencies including the OS.</a:t>
            </a:r>
            <a:br>
              <a:rPr lang="en-US" sz="3400">
                <a:solidFill>
                  <a:srgbClr val="FFFFFF"/>
                </a:solidFill>
              </a:rPr>
            </a:br>
            <a:r>
              <a:rPr lang="en-US" sz="3400">
                <a:solidFill>
                  <a:srgbClr val="FFFFFF"/>
                </a:solidFill>
              </a:rPr>
              <a:t>But in the case of docker image we do not install the OS. WHY</a:t>
            </a:r>
          </a:p>
        </p:txBody>
      </p:sp>
      <p:sp>
        <p:nvSpPr>
          <p:cNvPr id="20" name="Arc 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E0F635D-8B9E-3B62-9E1F-C19DF02CFBFE}"/>
              </a:ext>
            </a:extLst>
          </p:cNvPr>
          <p:cNvSpPr>
            <a:spLocks noGrp="1"/>
          </p:cNvSpPr>
          <p:nvPr>
            <p:ph idx="1"/>
          </p:nvPr>
        </p:nvSpPr>
        <p:spPr>
          <a:xfrm>
            <a:off x="4447308" y="591344"/>
            <a:ext cx="6906491" cy="5585619"/>
          </a:xfrm>
        </p:spPr>
        <p:txBody>
          <a:bodyPr anchor="ctr">
            <a:normAutofit/>
          </a:bodyPr>
          <a:lstStyle/>
          <a:p>
            <a:r>
              <a:rPr lang="en-US" sz="2400"/>
              <a:t>You don't "install" the OS in a container because the image is essentially a </a:t>
            </a:r>
            <a:r>
              <a:rPr lang="en-US" sz="2400" b="1"/>
              <a:t>snapshot of a pre-installed OS filesystem</a:t>
            </a:r>
            <a:r>
              <a:rPr lang="en-US" sz="2400"/>
              <a:t>.</a:t>
            </a:r>
          </a:p>
          <a:p>
            <a:r>
              <a:rPr lang="en-US" sz="2400"/>
              <a:t>When you transfer a Docker image, you are transferring a directory structure that looks exactly like a fresh Linux install. When the container starts, Docker uses a Linux feature called chroot (change root) to tell the application: </a:t>
            </a:r>
            <a:r>
              <a:rPr lang="en-US" sz="2400" i="1"/>
              <a:t>"The folder we just downloaded is now your entire world; your / (root) starts here."</a:t>
            </a:r>
            <a:r>
              <a:rPr lang="en-US" sz="2400"/>
              <a:t> The application sees the Ubuntu files you transferred, uses the Ubuntu libraries you transferred, but executes its commands on the host's existing CPU and Kernel. This is why it is "lightweight" compared to a Virtual Machine, which </a:t>
            </a:r>
            <a:r>
              <a:rPr lang="en-US" sz="2400" i="1"/>
              <a:t>would</a:t>
            </a:r>
            <a:r>
              <a:rPr lang="en-US" sz="2400"/>
              <a:t> require installing a whole new Kernel.</a:t>
            </a:r>
          </a:p>
          <a:p>
            <a:endParaRPr lang="en-US" sz="2400" dirty="0"/>
          </a:p>
        </p:txBody>
      </p:sp>
    </p:spTree>
    <p:extLst>
      <p:ext uri="{BB962C8B-B14F-4D97-AF65-F5344CB8AC3E}">
        <p14:creationId xmlns:p14="http://schemas.microsoft.com/office/powerpoint/2010/main" val="4163221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2190DF-834F-A91D-CC2E-BE454B41AD1B}"/>
              </a:ext>
            </a:extLst>
          </p:cNvPr>
          <p:cNvSpPr>
            <a:spLocks noGrp="1"/>
          </p:cNvSpPr>
          <p:nvPr>
            <p:ph type="title"/>
          </p:nvPr>
        </p:nvSpPr>
        <p:spPr/>
        <p:txBody>
          <a:bodyPr/>
          <a:lstStyle/>
          <a:p>
            <a:r>
              <a:rPr lang="en-US" dirty="0"/>
              <a:t>More on docker vs zip</a:t>
            </a:r>
          </a:p>
        </p:txBody>
      </p:sp>
      <p:sp>
        <p:nvSpPr>
          <p:cNvPr id="5" name="Text Placeholder 4">
            <a:extLst>
              <a:ext uri="{FF2B5EF4-FFF2-40B4-BE49-F238E27FC236}">
                <a16:creationId xmlns:a16="http://schemas.microsoft.com/office/drawing/2014/main" id="{6350EA17-4BC3-D901-559D-B17C6FDC24A4}"/>
              </a:ext>
            </a:extLst>
          </p:cNvPr>
          <p:cNvSpPr>
            <a:spLocks noGrp="1"/>
          </p:cNvSpPr>
          <p:nvPr>
            <p:ph type="body" idx="1"/>
          </p:nvPr>
        </p:nvSpPr>
        <p:spPr/>
        <p:txBody>
          <a:bodyPr/>
          <a:lstStyle/>
          <a:p>
            <a:r>
              <a:rPr lang="en-US" dirty="0"/>
              <a:t>Zip file: “code only”</a:t>
            </a:r>
          </a:p>
        </p:txBody>
      </p:sp>
      <p:sp>
        <p:nvSpPr>
          <p:cNvPr id="6" name="Content Placeholder 5">
            <a:extLst>
              <a:ext uri="{FF2B5EF4-FFF2-40B4-BE49-F238E27FC236}">
                <a16:creationId xmlns:a16="http://schemas.microsoft.com/office/drawing/2014/main" id="{97C800D6-98B1-DFC8-493A-2C07B7ED732E}"/>
              </a:ext>
            </a:extLst>
          </p:cNvPr>
          <p:cNvSpPr>
            <a:spLocks noGrp="1"/>
          </p:cNvSpPr>
          <p:nvPr>
            <p:ph sz="half" idx="2"/>
          </p:nvPr>
        </p:nvSpPr>
        <p:spPr/>
        <p:txBody>
          <a:bodyPr>
            <a:normAutofit fontScale="92500" lnSpcReduction="20000"/>
          </a:bodyPr>
          <a:lstStyle/>
          <a:p>
            <a:pPr marL="0" indent="0">
              <a:buNone/>
            </a:pPr>
            <a:r>
              <a:rPr lang="en-US" dirty="0"/>
              <a:t>A ZIP file is typically a collection of your application code and perhaps some configuration files. It assumes the "ground" it lands on is already prepared.</a:t>
            </a:r>
          </a:p>
          <a:p>
            <a:r>
              <a:rPr lang="en-US" b="1" dirty="0"/>
              <a:t>Dependency Gap:</a:t>
            </a:r>
            <a:r>
              <a:rPr lang="en-US" dirty="0"/>
              <a:t> If your code requires Python 3.10 and a specific version of a library (like OpenSSL), a ZIP file does not include those. You must manually install them on the destination machine.</a:t>
            </a:r>
          </a:p>
          <a:p>
            <a:r>
              <a:rPr lang="en-US" b="1" dirty="0"/>
              <a:t>OS Fragmentation:</a:t>
            </a:r>
            <a:r>
              <a:rPr lang="en-US" dirty="0"/>
              <a:t> If you ZIP an application on Windows and try to run it on Linux, it will likely fail because the compiled binaries and system paths are different. The ZIP doesn't bring the operating system's environment with it.</a:t>
            </a:r>
          </a:p>
          <a:p>
            <a:endParaRPr lang="en-US" dirty="0"/>
          </a:p>
        </p:txBody>
      </p:sp>
      <p:sp>
        <p:nvSpPr>
          <p:cNvPr id="7" name="Text Placeholder 6">
            <a:extLst>
              <a:ext uri="{FF2B5EF4-FFF2-40B4-BE49-F238E27FC236}">
                <a16:creationId xmlns:a16="http://schemas.microsoft.com/office/drawing/2014/main" id="{907E2B79-0F1F-1123-7DF8-D874F786C424}"/>
              </a:ext>
            </a:extLst>
          </p:cNvPr>
          <p:cNvSpPr>
            <a:spLocks noGrp="1"/>
          </p:cNvSpPr>
          <p:nvPr>
            <p:ph type="body" sz="quarter" idx="3"/>
          </p:nvPr>
        </p:nvSpPr>
        <p:spPr/>
        <p:txBody>
          <a:bodyPr/>
          <a:lstStyle/>
          <a:p>
            <a:r>
              <a:rPr lang="en-US" dirty="0"/>
              <a:t>Docker file: “the entire room”</a:t>
            </a:r>
          </a:p>
        </p:txBody>
      </p:sp>
      <p:sp>
        <p:nvSpPr>
          <p:cNvPr id="12" name="Rectangle 3">
            <a:extLst>
              <a:ext uri="{FF2B5EF4-FFF2-40B4-BE49-F238E27FC236}">
                <a16:creationId xmlns:a16="http://schemas.microsoft.com/office/drawing/2014/main" id="{D5B2768F-BE79-1633-8E0E-4BB37EF2DC67}"/>
              </a:ext>
            </a:extLst>
          </p:cNvPr>
          <p:cNvSpPr>
            <a:spLocks noGrp="1" noChangeArrowheads="1"/>
          </p:cNvSpPr>
          <p:nvPr>
            <p:ph sz="quarter" idx="4"/>
          </p:nvPr>
        </p:nvSpPr>
        <p:spPr bwMode="auto">
          <a:xfrm>
            <a:off x="6172199" y="2860712"/>
            <a:ext cx="5252987"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700" dirty="0"/>
              <a:t>A Docker image doesn't just contain your code; it contains the User Space of an Operating System.</a:t>
            </a:r>
          </a:p>
          <a:p>
            <a:pPr defTabSz="914400" eaLnBrk="0" fontAlgn="base" hangingPunct="0">
              <a:spcBef>
                <a:spcPct val="0"/>
              </a:spcBef>
              <a:spcAft>
                <a:spcPct val="0"/>
              </a:spcAft>
              <a:buClrTx/>
              <a:buSzTx/>
            </a:pPr>
            <a:r>
              <a:rPr lang="en-US" altLang="en-US" sz="1700" dirty="0"/>
              <a:t>What is User Space?  When you see FROM ubuntu in a </a:t>
            </a:r>
            <a:r>
              <a:rPr lang="en-US" altLang="en-US" sz="1700" dirty="0" err="1"/>
              <a:t>Dockerfile</a:t>
            </a:r>
            <a:r>
              <a:rPr lang="en-US" altLang="en-US" sz="1700" dirty="0"/>
              <a:t>, you aren't installing a whole new Kernel (the core of the OS). You are grabbing the Ubuntu "User Space"—the libraries, package managers (apt), shell (bash), and file structures.</a:t>
            </a:r>
          </a:p>
          <a:p>
            <a:pPr defTabSz="914400" eaLnBrk="0" fontAlgn="base" hangingPunct="0">
              <a:spcBef>
                <a:spcPct val="0"/>
              </a:spcBef>
              <a:spcAft>
                <a:spcPct val="0"/>
              </a:spcAft>
              <a:buClrTx/>
              <a:buSzTx/>
            </a:pPr>
            <a:r>
              <a:rPr lang="en-US" altLang="en-US" sz="1700" dirty="0"/>
              <a:t>The Shared Kernel: Docker containers share the Host Kernel. Because almost all modern Linux distributions use a compatible Kernel, an "Ubuntu" container can run perfectly on a "Fedora" host. The container brings its own libraries ($</a:t>
            </a:r>
            <a:r>
              <a:rPr lang="en-US" altLang="en-US" sz="1700" dirty="0" err="1"/>
              <a:t>libc</a:t>
            </a:r>
            <a:r>
              <a:rPr lang="en-US" altLang="en-US" sz="1700" dirty="0"/>
              <a:t>$, etc.), so it doesn't care what is installed on the host.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0818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64DAFB-AD9A-4E52-B026-8641CCD677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747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3B1C8FC-E1FE-470B-AB3B-D4B1D8C9DE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7B94F3D-2636-D37C-B1CC-E3060621A1CA}"/>
              </a:ext>
            </a:extLst>
          </p:cNvPr>
          <p:cNvSpPr>
            <a:spLocks noGrp="1"/>
          </p:cNvSpPr>
          <p:nvPr>
            <p:ph type="title"/>
          </p:nvPr>
        </p:nvSpPr>
        <p:spPr>
          <a:xfrm>
            <a:off x="680322" y="321733"/>
            <a:ext cx="9256566" cy="845983"/>
          </a:xfrm>
          <a:effectLst>
            <a:outerShdw blurRad="88900" dist="38100" dir="2700000" algn="tl" rotWithShape="0">
              <a:prstClr val="black">
                <a:alpha val="30000"/>
              </a:prstClr>
            </a:outerShdw>
          </a:effectLst>
        </p:spPr>
        <p:txBody>
          <a:bodyPr anchor="b">
            <a:normAutofit/>
          </a:bodyPr>
          <a:lstStyle/>
          <a:p>
            <a:r>
              <a:rPr lang="en-US" dirty="0"/>
              <a:t>Pulling an image from docker hub.</a:t>
            </a:r>
          </a:p>
        </p:txBody>
      </p:sp>
      <p:pic>
        <p:nvPicPr>
          <p:cNvPr id="9" name="Picture 8">
            <a:extLst>
              <a:ext uri="{FF2B5EF4-FFF2-40B4-BE49-F238E27FC236}">
                <a16:creationId xmlns:a16="http://schemas.microsoft.com/office/drawing/2014/main" id="{56ED1086-4FBF-41E3-B23D-0AF086E76F1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0585826" y="2846786"/>
            <a:ext cx="1602997" cy="144270"/>
          </a:xfrm>
          <a:prstGeom prst="rect">
            <a:avLst/>
          </a:prstGeom>
        </p:spPr>
      </p:pic>
      <p:pic>
        <p:nvPicPr>
          <p:cNvPr id="10" name="Picture 9">
            <a:extLst>
              <a:ext uri="{FF2B5EF4-FFF2-40B4-BE49-F238E27FC236}">
                <a16:creationId xmlns:a16="http://schemas.microsoft.com/office/drawing/2014/main" id="{8900C04C-9973-40F3-8121-55AC6A4726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5851041"/>
            <a:ext cx="9936886" cy="321164"/>
          </a:xfrm>
          <a:prstGeom prst="rect">
            <a:avLst/>
          </a:prstGeom>
        </p:spPr>
      </p:pic>
      <p:sp>
        <p:nvSpPr>
          <p:cNvPr id="11" name="Rectangle 10">
            <a:extLst>
              <a:ext uri="{FF2B5EF4-FFF2-40B4-BE49-F238E27FC236}">
                <a16:creationId xmlns:a16="http://schemas.microsoft.com/office/drawing/2014/main" id="{CD6B57F6-C734-4FDA-9495-94E602DC5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89448"/>
            <a:ext cx="9936887" cy="4381221"/>
          </a:xfrm>
          <a:prstGeom prst="rect">
            <a:avLst/>
          </a:prstGeom>
          <a:solidFill>
            <a:srgbClr val="0D0D0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A527DBE7-C735-D504-223D-B9257545EC8C}"/>
              </a:ext>
            </a:extLst>
          </p:cNvPr>
          <p:cNvSpPr>
            <a:spLocks noGrp="1"/>
          </p:cNvSpPr>
          <p:nvPr>
            <p:ph idx="1"/>
          </p:nvPr>
        </p:nvSpPr>
        <p:spPr>
          <a:xfrm>
            <a:off x="680321" y="1960966"/>
            <a:ext cx="9079696" cy="3708314"/>
          </a:xfrm>
        </p:spPr>
        <p:txBody>
          <a:bodyPr anchor="t">
            <a:noAutofit/>
          </a:bodyPr>
          <a:lstStyle/>
          <a:p>
            <a:r>
              <a:rPr lang="en-US" sz="1600" dirty="0">
                <a:solidFill>
                  <a:srgbClr val="FFFFFF"/>
                </a:solidFill>
              </a:rPr>
              <a:t>When you pull an image, the layers are stored in a specific directory managed by the Docker Engine. The exact location depends on your operating system and the </a:t>
            </a:r>
            <a:r>
              <a:rPr lang="en-US" sz="1600" b="1" dirty="0">
                <a:solidFill>
                  <a:srgbClr val="FFFFFF"/>
                </a:solidFill>
              </a:rPr>
              <a:t>storage driver</a:t>
            </a:r>
            <a:r>
              <a:rPr lang="en-US" sz="1600" dirty="0">
                <a:solidFill>
                  <a:srgbClr val="FFFFFF"/>
                </a:solidFill>
              </a:rPr>
              <a:t> being used.</a:t>
            </a:r>
          </a:p>
          <a:p>
            <a:r>
              <a:rPr lang="en-US" sz="1600" b="1" dirty="0">
                <a:solidFill>
                  <a:srgbClr val="FFFFFF"/>
                </a:solidFill>
              </a:rPr>
              <a:t>1. Default Storage Locations</a:t>
            </a:r>
          </a:p>
          <a:p>
            <a:r>
              <a:rPr lang="en-US" sz="1600" dirty="0">
                <a:solidFill>
                  <a:srgbClr val="FFFFFF"/>
                </a:solidFill>
              </a:rPr>
              <a:t>On most systems, Docker stores image layers in a root-protected directory:</a:t>
            </a:r>
          </a:p>
          <a:p>
            <a:r>
              <a:rPr lang="en-US" sz="1600" b="1" dirty="0">
                <a:solidFill>
                  <a:srgbClr val="FFFFFF"/>
                </a:solidFill>
              </a:rPr>
              <a:t>Linux:</a:t>
            </a:r>
            <a:r>
              <a:rPr lang="en-US" sz="1600" dirty="0">
                <a:solidFill>
                  <a:srgbClr val="FFFFFF"/>
                </a:solidFill>
              </a:rPr>
              <a:t> </a:t>
            </a:r>
            <a:r>
              <a:rPr lang="en-US" sz="1600" dirty="0">
                <a:solidFill>
                  <a:srgbClr val="FFFF00"/>
                </a:solidFill>
              </a:rPr>
              <a:t>/var/lib/docker/overlay2/</a:t>
            </a:r>
          </a:p>
          <a:p>
            <a:r>
              <a:rPr lang="en-US" sz="1600" b="1" dirty="0">
                <a:solidFill>
                  <a:srgbClr val="FFFFFF"/>
                </a:solidFill>
              </a:rPr>
              <a:t>2. The Internal Structure</a:t>
            </a:r>
          </a:p>
          <a:p>
            <a:r>
              <a:rPr lang="en-US" sz="1600" dirty="0">
                <a:solidFill>
                  <a:srgbClr val="FFFFFF"/>
                </a:solidFill>
              </a:rPr>
              <a:t>Within that /var/lib/docker/ directory, the data is organized into several sub-folders:</a:t>
            </a:r>
          </a:p>
          <a:p>
            <a:r>
              <a:rPr lang="en-US" sz="1600" b="1" dirty="0">
                <a:solidFill>
                  <a:srgbClr val="FFFF00"/>
                </a:solidFill>
              </a:rPr>
              <a:t>overlay2/</a:t>
            </a:r>
            <a:r>
              <a:rPr lang="en-US" sz="1600" dirty="0">
                <a:solidFill>
                  <a:srgbClr val="FFFFFF"/>
                </a:solidFill>
              </a:rPr>
              <a:t>: This is where the actual files and directories of the layers live. Each layer has its own subdirectory.</a:t>
            </a:r>
          </a:p>
          <a:p>
            <a:r>
              <a:rPr lang="en-US" sz="1600" b="1" dirty="0">
                <a:solidFill>
                  <a:srgbClr val="FFFF00"/>
                </a:solidFill>
              </a:rPr>
              <a:t>image/</a:t>
            </a:r>
            <a:r>
              <a:rPr lang="en-US" sz="1600" dirty="0">
                <a:solidFill>
                  <a:srgbClr val="FFFFFF"/>
                </a:solidFill>
              </a:rPr>
              <a:t>: This contains the metadata about the images, including the "manifests" that tell Docker which layer IDs belong to which image.</a:t>
            </a:r>
          </a:p>
          <a:p>
            <a:r>
              <a:rPr lang="en-US" sz="1600" b="1" dirty="0">
                <a:solidFill>
                  <a:srgbClr val="FFFF00"/>
                </a:solidFill>
              </a:rPr>
              <a:t>containers/</a:t>
            </a:r>
            <a:r>
              <a:rPr lang="en-US" sz="1600" dirty="0">
                <a:solidFill>
                  <a:srgbClr val="FFFFFF"/>
                </a:solidFill>
              </a:rPr>
              <a:t>: This stores configuration and log files for active or stopped containers.</a:t>
            </a:r>
          </a:p>
          <a:p>
            <a:endParaRPr lang="en-US" sz="1600" dirty="0">
              <a:solidFill>
                <a:srgbClr val="FFFFFF"/>
              </a:solidFill>
            </a:endParaRPr>
          </a:p>
        </p:txBody>
      </p:sp>
      <p:sp>
        <p:nvSpPr>
          <p:cNvPr id="22" name="Rectangle 21">
            <a:extLst>
              <a:ext uri="{FF2B5EF4-FFF2-40B4-BE49-F238E27FC236}">
                <a16:creationId xmlns:a16="http://schemas.microsoft.com/office/drawing/2014/main" id="{D6C984CB-7FE4-4AD0-8CF7-11AD55736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9003" y="148944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57023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argo shipping containers in a pile and on a semi-truck at a harbor">
            <a:extLst>
              <a:ext uri="{FF2B5EF4-FFF2-40B4-BE49-F238E27FC236}">
                <a16:creationId xmlns:a16="http://schemas.microsoft.com/office/drawing/2014/main" id="{12EF3D81-C3E4-0169-5A85-4323204CA2FA}"/>
              </a:ext>
            </a:extLst>
          </p:cNvPr>
          <p:cNvPicPr>
            <a:picLocks noChangeAspect="1"/>
          </p:cNvPicPr>
          <p:nvPr/>
        </p:nvPicPr>
        <p:blipFill>
          <a:blip r:embed="rId2">
            <a:alphaModFix amt="25000"/>
          </a:blip>
          <a:srcRect t="20348" b="4652"/>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24F3C611-0CF5-45ED-9190-A7A9C19AC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86048"/>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rgbClr val="FFFFFF"/>
              </a:solidFill>
            </a:endParaRPr>
          </a:p>
        </p:txBody>
      </p:sp>
      <p:sp>
        <p:nvSpPr>
          <p:cNvPr id="2" name="Title 1">
            <a:extLst>
              <a:ext uri="{FF2B5EF4-FFF2-40B4-BE49-F238E27FC236}">
                <a16:creationId xmlns:a16="http://schemas.microsoft.com/office/drawing/2014/main" id="{4FB95AB1-EDC7-1187-5134-4CDDFE0EA17C}"/>
              </a:ext>
            </a:extLst>
          </p:cNvPr>
          <p:cNvSpPr>
            <a:spLocks noGrp="1"/>
          </p:cNvSpPr>
          <p:nvPr>
            <p:ph type="title"/>
          </p:nvPr>
        </p:nvSpPr>
        <p:spPr>
          <a:xfrm>
            <a:off x="1202919" y="284176"/>
            <a:ext cx="9784080" cy="1508760"/>
          </a:xfrm>
        </p:spPr>
        <p:txBody>
          <a:bodyPr>
            <a:normAutofit/>
          </a:bodyPr>
          <a:lstStyle/>
          <a:p>
            <a:r>
              <a:rPr lang="en-US" dirty="0"/>
              <a:t>What is docker hub?</a:t>
            </a:r>
          </a:p>
        </p:txBody>
      </p:sp>
      <p:sp>
        <p:nvSpPr>
          <p:cNvPr id="3" name="Content Placeholder 2">
            <a:extLst>
              <a:ext uri="{FF2B5EF4-FFF2-40B4-BE49-F238E27FC236}">
                <a16:creationId xmlns:a16="http://schemas.microsoft.com/office/drawing/2014/main" id="{F115CD5C-1211-B290-0429-9626F1B9F49D}"/>
              </a:ext>
            </a:extLst>
          </p:cNvPr>
          <p:cNvSpPr>
            <a:spLocks noGrp="1"/>
          </p:cNvSpPr>
          <p:nvPr>
            <p:ph idx="1"/>
          </p:nvPr>
        </p:nvSpPr>
        <p:spPr>
          <a:xfrm>
            <a:off x="1202919" y="2011680"/>
            <a:ext cx="9784080" cy="4206240"/>
          </a:xfrm>
        </p:spPr>
        <p:txBody>
          <a:bodyPr>
            <a:normAutofit/>
          </a:bodyPr>
          <a:lstStyle/>
          <a:p>
            <a:r>
              <a:rPr lang="en-US" b="1" dirty="0"/>
              <a:t>Docker Hub</a:t>
            </a:r>
          </a:p>
          <a:p>
            <a:r>
              <a:rPr lang="en-US" b="1" dirty="0"/>
              <a:t>Docker Hub</a:t>
            </a:r>
            <a:r>
              <a:rPr lang="en-US" dirty="0"/>
              <a:t> is a cloud-based service and the world's largest public library of container images. It serves as a central point where individuals and organizations can find, share, and store Docker images.</a:t>
            </a:r>
          </a:p>
          <a:p>
            <a:r>
              <a:rPr lang="en-US" b="1" dirty="0"/>
              <a:t>Public Repositories:</a:t>
            </a:r>
            <a:r>
              <a:rPr lang="en-US" dirty="0"/>
              <a:t> Used for open-source projects (e.g., official images for Ubuntu, Nginx, or Postgres).</a:t>
            </a:r>
          </a:p>
          <a:p>
            <a:r>
              <a:rPr lang="en-US" b="1" dirty="0"/>
              <a:t>Private Repositories:</a:t>
            </a:r>
            <a:r>
              <a:rPr lang="en-US" dirty="0"/>
              <a:t> Used by companies to store proprietary application images securely.</a:t>
            </a:r>
          </a:p>
          <a:p>
            <a:endParaRPr lang="en-US" dirty="0"/>
          </a:p>
        </p:txBody>
      </p:sp>
    </p:spTree>
    <p:extLst>
      <p:ext uri="{BB962C8B-B14F-4D97-AF65-F5344CB8AC3E}">
        <p14:creationId xmlns:p14="http://schemas.microsoft.com/office/powerpoint/2010/main" val="2788304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E7B29-5247-1417-D0CA-1E19555428D7}"/>
              </a:ext>
            </a:extLst>
          </p:cNvPr>
          <p:cNvSpPr>
            <a:spLocks noGrp="1"/>
          </p:cNvSpPr>
          <p:nvPr>
            <p:ph type="title"/>
          </p:nvPr>
        </p:nvSpPr>
        <p:spPr/>
        <p:txBody>
          <a:bodyPr/>
          <a:lstStyle/>
          <a:p>
            <a:r>
              <a:rPr lang="en-US" dirty="0"/>
              <a:t>Definition - </a:t>
            </a:r>
            <a:r>
              <a:rPr lang="en-US" dirty="0" err="1"/>
              <a:t>dockerfile</a:t>
            </a:r>
            <a:endParaRPr lang="en-US" dirty="0"/>
          </a:p>
        </p:txBody>
      </p:sp>
      <p:sp>
        <p:nvSpPr>
          <p:cNvPr id="3" name="Content Placeholder 2">
            <a:extLst>
              <a:ext uri="{FF2B5EF4-FFF2-40B4-BE49-F238E27FC236}">
                <a16:creationId xmlns:a16="http://schemas.microsoft.com/office/drawing/2014/main" id="{BBC61351-4F41-25C5-8788-4F7298D61477}"/>
              </a:ext>
            </a:extLst>
          </p:cNvPr>
          <p:cNvSpPr>
            <a:spLocks noGrp="1"/>
          </p:cNvSpPr>
          <p:nvPr>
            <p:ph idx="1"/>
          </p:nvPr>
        </p:nvSpPr>
        <p:spPr/>
        <p:txBody>
          <a:bodyPr>
            <a:normAutofit/>
          </a:bodyPr>
          <a:lstStyle/>
          <a:p>
            <a:r>
              <a:rPr lang="en-US" b="1" dirty="0" err="1"/>
              <a:t>Dockerfile</a:t>
            </a:r>
            <a:endParaRPr lang="en-US" b="1" dirty="0"/>
          </a:p>
          <a:p>
            <a:r>
              <a:rPr lang="en-US" dirty="0"/>
              <a:t>A </a:t>
            </a:r>
            <a:r>
              <a:rPr lang="en-US" b="1" dirty="0" err="1"/>
              <a:t>Dockerfile</a:t>
            </a:r>
            <a:r>
              <a:rPr lang="en-US" dirty="0"/>
              <a:t> is a text document containing a sequence of instructions used to assemble a Docker image. It automates the environment setup by defining the base operating system, software dependencies, environment variables, and the specific commands to run the application.</a:t>
            </a:r>
          </a:p>
          <a:p>
            <a:r>
              <a:rPr lang="en-US" b="1" dirty="0"/>
              <a:t>Key Instructions:</a:t>
            </a:r>
            <a:endParaRPr lang="en-US" dirty="0"/>
          </a:p>
          <a:p>
            <a:pPr lvl="1"/>
            <a:r>
              <a:rPr lang="en-US" dirty="0"/>
              <a:t>FROM: Sets the base image (e.g., FROM python:3.9).</a:t>
            </a:r>
          </a:p>
          <a:p>
            <a:pPr lvl="1"/>
            <a:r>
              <a:rPr lang="en-US" dirty="0"/>
              <a:t>COPY: Transfers files from your local machine into the image.</a:t>
            </a:r>
          </a:p>
          <a:p>
            <a:pPr lvl="1"/>
            <a:r>
              <a:rPr lang="en-US" dirty="0"/>
              <a:t>RUN: Executes commands during the build process (e.g., installing packages).</a:t>
            </a:r>
          </a:p>
          <a:p>
            <a:pPr lvl="1"/>
            <a:r>
              <a:rPr lang="en-US" dirty="0"/>
              <a:t>CMD: Specifies the default command to run when the container starts.</a:t>
            </a:r>
          </a:p>
          <a:p>
            <a:endParaRPr lang="en-US" dirty="0"/>
          </a:p>
        </p:txBody>
      </p:sp>
    </p:spTree>
    <p:extLst>
      <p:ext uri="{BB962C8B-B14F-4D97-AF65-F5344CB8AC3E}">
        <p14:creationId xmlns:p14="http://schemas.microsoft.com/office/powerpoint/2010/main" val="3244668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77588-82DE-CF43-72E1-D8A819BCAA8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Runc and containerd</a:t>
            </a:r>
          </a:p>
        </p:txBody>
      </p:sp>
      <p:pic>
        <p:nvPicPr>
          <p:cNvPr id="5" name="Content Placeholder 4">
            <a:extLst>
              <a:ext uri="{FF2B5EF4-FFF2-40B4-BE49-F238E27FC236}">
                <a16:creationId xmlns:a16="http://schemas.microsoft.com/office/drawing/2014/main" id="{9470C201-232E-1DBE-C947-3B6A0227BC83}"/>
              </a:ext>
            </a:extLst>
          </p:cNvPr>
          <p:cNvPicPr>
            <a:picLocks noGrp="1" noChangeAspect="1"/>
          </p:cNvPicPr>
          <p:nvPr>
            <p:ph idx="1"/>
          </p:nvPr>
        </p:nvPicPr>
        <p:blipFill>
          <a:blip r:embed="rId2"/>
          <a:stretch>
            <a:fillRect/>
          </a:stretch>
        </p:blipFill>
        <p:spPr>
          <a:xfrm>
            <a:off x="4777316" y="927453"/>
            <a:ext cx="6780700" cy="5000765"/>
          </a:xfrm>
          <a:prstGeom prst="rect">
            <a:avLst/>
          </a:prstGeom>
        </p:spPr>
      </p:pic>
    </p:spTree>
    <p:extLst>
      <p:ext uri="{BB962C8B-B14F-4D97-AF65-F5344CB8AC3E}">
        <p14:creationId xmlns:p14="http://schemas.microsoft.com/office/powerpoint/2010/main" val="4026627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20" name="Rectangle 19">
            <a:extLst>
              <a:ext uri="{FF2B5EF4-FFF2-40B4-BE49-F238E27FC236}">
                <a16:creationId xmlns:a16="http://schemas.microsoft.com/office/drawing/2014/main" id="{EB88142C-D3C4-43DC-A844-A7D9ECB0F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2F5A590-FD08-C3E7-93BB-4AE0B9489E6A}"/>
              </a:ext>
            </a:extLst>
          </p:cNvPr>
          <p:cNvSpPr>
            <a:spLocks noGrp="1"/>
          </p:cNvSpPr>
          <p:nvPr>
            <p:ph type="title"/>
          </p:nvPr>
        </p:nvSpPr>
        <p:spPr>
          <a:xfrm>
            <a:off x="684213" y="685799"/>
            <a:ext cx="4781147" cy="4892676"/>
          </a:xfrm>
        </p:spPr>
        <p:txBody>
          <a:bodyPr vert="horz" lIns="91440" tIns="45720" rIns="91440" bIns="45720" rtlCol="0" anchor="ctr">
            <a:normAutofit/>
          </a:bodyPr>
          <a:lstStyle/>
          <a:p>
            <a:pPr algn="r"/>
            <a:r>
              <a:rPr lang="en-US" sz="5200" dirty="0"/>
              <a:t>Thank you</a:t>
            </a:r>
          </a:p>
        </p:txBody>
      </p:sp>
      <p:sp>
        <p:nvSpPr>
          <p:cNvPr id="22" name="Rectangle 21">
            <a:extLst>
              <a:ext uri="{FF2B5EF4-FFF2-40B4-BE49-F238E27FC236}">
                <a16:creationId xmlns:a16="http://schemas.microsoft.com/office/drawing/2014/main" id="{416DC9EF-092A-4FEF-8A40-0E509CA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6096001" cy="6858000"/>
          </a:xfrm>
          <a:prstGeom prst="rect">
            <a:avLst/>
          </a:prstGeom>
          <a:solidFill>
            <a:schemeClr val="bg2">
              <a:alpha val="97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F906ECC-90F5-B8CB-85AB-0C29F6F62A89}"/>
              </a:ext>
            </a:extLst>
          </p:cNvPr>
          <p:cNvSpPr txBox="1"/>
          <p:nvPr/>
        </p:nvSpPr>
        <p:spPr>
          <a:xfrm>
            <a:off x="6491625" y="685799"/>
            <a:ext cx="4816572" cy="4869981"/>
          </a:xfrm>
          <a:prstGeom prst="rect">
            <a:avLst/>
          </a:prstGeom>
        </p:spPr>
        <p:txBody>
          <a:bodyPr vert="horz" lIns="91440" tIns="45720" rIns="91440" bIns="45720" rtlCol="0" anchor="ctr">
            <a:normAutofit/>
          </a:bodyPr>
          <a:lstStyle/>
          <a:p>
            <a:pPr defTabSz="457200">
              <a:spcBef>
                <a:spcPct val="20000"/>
              </a:spcBef>
              <a:spcAft>
                <a:spcPts val="600"/>
              </a:spcAft>
              <a:buClr>
                <a:schemeClr val="tx1"/>
              </a:buClr>
              <a:buSzPct val="80000"/>
            </a:pPr>
            <a:r>
              <a:rPr lang="en-US" sz="4000">
                <a:solidFill>
                  <a:schemeClr val="tx2">
                    <a:lumMod val="60000"/>
                    <a:lumOff val="40000"/>
                  </a:schemeClr>
                </a:solidFill>
              </a:rPr>
              <a:t>By – Ayush Sharma</a:t>
            </a:r>
          </a:p>
        </p:txBody>
      </p:sp>
    </p:spTree>
    <p:extLst>
      <p:ext uri="{BB962C8B-B14F-4D97-AF65-F5344CB8AC3E}">
        <p14:creationId xmlns:p14="http://schemas.microsoft.com/office/powerpoint/2010/main" val="209728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_rels/theme6.xml.rels><?xml version="1.0" encoding="UTF-8" standalone="yes"?>
<Relationships xmlns="http://schemas.openxmlformats.org/package/2006/relationships"><Relationship Id="rId1" Type="http://schemas.openxmlformats.org/officeDocument/2006/relationships/image" Target="../media/image5.jpeg"/></Relationships>
</file>

<file path=ppt/theme/_rels/theme7.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3.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4.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7.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8.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9.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1230</TotalTime>
  <Words>3246</Words>
  <Application>Microsoft Office PowerPoint</Application>
  <PresentationFormat>Widescreen</PresentationFormat>
  <Paragraphs>144</Paragraphs>
  <Slides>31</Slides>
  <Notes>1</Notes>
  <HiddenSlides>0</HiddenSlides>
  <MMClips>0</MMClips>
  <ScaleCrop>false</ScaleCrop>
  <HeadingPairs>
    <vt:vector size="6" baseType="variant">
      <vt:variant>
        <vt:lpstr>Fonts Used</vt:lpstr>
      </vt:variant>
      <vt:variant>
        <vt:i4>13</vt:i4>
      </vt:variant>
      <vt:variant>
        <vt:lpstr>Theme</vt:lpstr>
      </vt:variant>
      <vt:variant>
        <vt:i4>9</vt:i4>
      </vt:variant>
      <vt:variant>
        <vt:lpstr>Slide Titles</vt:lpstr>
      </vt:variant>
      <vt:variant>
        <vt:i4>31</vt:i4>
      </vt:variant>
    </vt:vector>
  </HeadingPairs>
  <TitlesOfParts>
    <vt:vector size="53" baseType="lpstr">
      <vt:lpstr>Aptos</vt:lpstr>
      <vt:lpstr>Aptos Display</vt:lpstr>
      <vt:lpstr>Arial</vt:lpstr>
      <vt:lpstr>Calibri</vt:lpstr>
      <vt:lpstr>Calibri Light</vt:lpstr>
      <vt:lpstr>Century Gothic</vt:lpstr>
      <vt:lpstr>Corbel</vt:lpstr>
      <vt:lpstr>Gill Sans MT</vt:lpstr>
      <vt:lpstr>Rockwell</vt:lpstr>
      <vt:lpstr>Trebuchet MS</vt:lpstr>
      <vt:lpstr>Wingdings</vt:lpstr>
      <vt:lpstr>Wingdings 2</vt:lpstr>
      <vt:lpstr>Wingdings 3</vt:lpstr>
      <vt:lpstr>Berlin</vt:lpstr>
      <vt:lpstr>Banded</vt:lpstr>
      <vt:lpstr>Dividend</vt:lpstr>
      <vt:lpstr>Atlas</vt:lpstr>
      <vt:lpstr>Office Theme</vt:lpstr>
      <vt:lpstr>Ion</vt:lpstr>
      <vt:lpstr>Ion Boardroom</vt:lpstr>
      <vt:lpstr>Gallery</vt:lpstr>
      <vt:lpstr>Slice</vt:lpstr>
      <vt:lpstr>Docker internals</vt:lpstr>
      <vt:lpstr>Virtual machines vs containers</vt:lpstr>
      <vt:lpstr>Problems with VMs</vt:lpstr>
      <vt:lpstr>The Perks of container</vt:lpstr>
      <vt:lpstr>Definition - Kernal</vt:lpstr>
      <vt:lpstr>Understanding mechanics of isolation</vt:lpstr>
      <vt:lpstr>PowerPoint Presentation</vt:lpstr>
      <vt:lpstr>Namespaces and Cgroups - Magic of Linux kernel </vt:lpstr>
      <vt:lpstr>In the Linux architecture, namespaces function as a layer of abstraction that wraps global system resources into virtualized instances. Their primary usage is to isolate runtime environments so that processes inside a container believe they have their own independent system.  </vt:lpstr>
      <vt:lpstr>PowerPoint Presentation</vt:lpstr>
      <vt:lpstr>Cgroups - the  walls of room</vt:lpstr>
      <vt:lpstr>Cgroups - continued</vt:lpstr>
      <vt:lpstr>Namespaces and cgroups define the runtime execution of a container.  Now we will look into the static segment of containers and try to answer following questions.  where does the file system come from, how does the storage of containers work, and how are they transferred?</vt:lpstr>
      <vt:lpstr>The Blueprint - Images</vt:lpstr>
      <vt:lpstr>What is an image?</vt:lpstr>
      <vt:lpstr>Definition - filesystem</vt:lpstr>
      <vt:lpstr>How are images made and stored and transferred.</vt:lpstr>
      <vt:lpstr>How are the layers of image stored?</vt:lpstr>
      <vt:lpstr>Sharing of base layers</vt:lpstr>
      <vt:lpstr>How the layers of images and containers interact? – THE MANIFEST</vt:lpstr>
      <vt:lpstr>Union mounting and Copy-on-write: isolation with shared resources</vt:lpstr>
      <vt:lpstr>What does transferring containers actually mean?</vt:lpstr>
      <vt:lpstr>Why can we not use zip files for transfer from one machine to other?</vt:lpstr>
      <vt:lpstr>PowerPoint Presentation</vt:lpstr>
      <vt:lpstr>In case of zip file we need to install all the dependencies including the OS. But in the case of docker image we do not install the OS. WHY</vt:lpstr>
      <vt:lpstr>More on docker vs zip</vt:lpstr>
      <vt:lpstr>Pulling an image from docker hub.</vt:lpstr>
      <vt:lpstr>What is docker hub?</vt:lpstr>
      <vt:lpstr>Definition - dockerfile</vt:lpstr>
      <vt:lpstr>Runc and containerd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 Sharma</dc:creator>
  <cp:lastModifiedBy>Ayush Sharma</cp:lastModifiedBy>
  <cp:revision>8</cp:revision>
  <dcterms:created xsi:type="dcterms:W3CDTF">2026-04-04T19:34:54Z</dcterms:created>
  <dcterms:modified xsi:type="dcterms:W3CDTF">2026-04-08T05:04:36Z</dcterms:modified>
</cp:coreProperties>
</file>